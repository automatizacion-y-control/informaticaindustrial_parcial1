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Casali. Presentación (nombre, materia, fecha). Una frase de apertura: vamos a mostrar cómo una infraestructura industrial evoluciona de servidores virtuales en nuestra PC a una base de datos administrada en la nube, con la seguridad como hilo conductor. Tiempo total sugerido: 15 minutos, unos 5 por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Casali. Antes de empezar, mostrar el orden: Unidad 1 (local y virtualización), luego la migración a la nube con el perímetro de seguridad, y por último la demostración práctica con SQL. Presento los tres bloques.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Casali. Definición propia: un servidor de aplicación industrial no es una PC común; es el equipo que corre continuamente los servicios de planta (SCADA, historiador, OPC, base de datos, web para HMI o reportes). Lo que lo distingue es la disponibilidad 24/7, la administración centralizada, los usuarios con permisos y los respaldos. Conectar con el resto de la defensa: en el TP1 ese rol lo cumple Windows Server con IIS, en el TP2 Ubuntu Server y en el bloque 3 SQL Server en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Casali. El libro de la cátedra recuerda que IBM inventó la virtualización en los años 60 en mainframes. Hoy es una necesidad por el aprovechamiento del hardware y el ahorro de energía y horas de administración. Aclarar que usamos VMware Workstation en lugar de VirtualBox: es el mismo tipo de hipervisor (tipo 2) y la configuración pedida en los TP es equivalente. Riesgo a mencionar: el host es punto único de falla si no hay redundancia.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Casali. Mostrar la creación de la VM y la instalación. Puntos a decir: 4 GB en lugar del mínimo de 2 GB para que ande bien; disco de 40 GB con la partición usando todo el espacio; red Bridged para que la VM tenga una IP de la red local; elegimos la edición con Desktop Experience porque el TP pide acceder al escritorio. Post-instalación: nombre del equipo, zona horaria, IP verificada con ipconfig y ping a otras máquinas. Mencionar VMware Tools y el snapshot como buena práctica. Problemas encontrados: EFI Network al arrancar y red Bridged sin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Casali. Evidencia de la creación de la VM. Izquierda: el resumen del asistente de VMware con 2 procesadores, 4096 MB de memoria, disco de 40 GB y red Bridged. Derecha: Administración de discos ya dentro de Windows Server, donde el disco de 39,98 GB queda utilizado casi por completo (partición de arranque, sistema C: en NTFS y recuperación). Es la respuesta a la consigna de configurar la partición para usar todo el espacio asignado. El informe del TP1 tiene el paso a paso completo con las 29 capturas.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Casali. Contar el problema real de red. Con Bridged la VM quedó con IP 169.254.x.x (sin DHCP) porque VMnet0 estaba enlazada al Microsoft Wi-Fi Direct Virtual Adapter y no a la placa Wi-Fi física. Como solución transitoria se usó NAT (192.168.64.128) y se comprobó ping. La solución definitiva fue abrir el Virtual Network Editor como administrador, elegir la placa Intel Dual Band Wireless-AC 7265 para VMnet0 y reiniciar el adaptador con Restart-NetAdapter. Resultado: 192.168.1.13/24 con puerta de enlace 192.168.1.1, ping a 8.8.8.8 sin pérdidas y ping desde la PC anfitriona a la VM. Esto también muestra por qué la consigna pide Bridged: la VM es un equipo más de la red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Del Soto. Esta es la justificación que pide el enunciado. IIS es el servidor web; ASP.NET genera contenido dinámico; ISAPI permite extender IIS; la consola facilita la administración. .NET 3.5 se instala por compatibilidad con software industrial viejo y 4.8 para aplicaciones actuales. WCF integra aplicaciones mediante servicios. Archivos e impresión sirve para compartir recetas, registros y reportes. Demostración rápida: abrir http://localhost y la página test.aspx para probar que ASP.NET responde, y mostrar la carpeta compartida desde la PC anfitriona. Escritorio Remoto fue opcional: habilitado para administración a distancia.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Del Soto. Evidencia de que los roles pedidos por la consigna quedaron instalados. Se instalaron con PowerShell (Install-WindowsFeature) y se verificó con Get-WindowsFeature | Where-Object Installed. .NET 3.5 requiere la ISO montada como D: y el parámetro -Source D:\sources\sxs. Escritorio Remoto es opcional en la consigna.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Del Soto. Demostración de que los roles funcionan: la página de inicio de IIS se abre desde la PC anfitriona usando la IP de la VM en modo Bridged, y test.aspx muestra el nombre del servidor SRV-IND01, lo que prueba que ASP.NET compila y ejecuta código en el servidor. Se tomaron snapshots de la VM en tres hitos (instalación base, roles e IIS, y final en Bridged) para poder volver atrás.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Del Soto. Instalación de Ubuntu Server 26.04.1 LTS con 4 GB de RAM y 40 GB de disco, en VMware Workstation en lugar de VirtualBox (mismo tipo de hipervisor). Instalador en modo texto con opciones por defecto, LVM sobre el disco completo, usuario con sudo (emi) y servidor OpenSSH. La captura es el primer login: se ve la versión, el kernel, la IP 192.168.1.14 de la interfaz ens33 y que / usaba solo 18,5 GB de los 40. Usuario con sudo en lugar de root por seguridad y trazabilidad; LTS por el soporte de largo plazo.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Del Soto. El instalador guiado con LVM crea el volumen lógico raíz con aproximadamente la mitad del espacio disponible: lsblk mostraba un disco de 40 GB con sda3 de 38 GB pero ubuntu-lv de solo 19 GB. Con lvextend -l +100%FREE se toma todo el espacio libre del grupo de volúmenes y con resize2fs se agranda el sistema de archivos en caliente. Resultado: df -h muestra 38 GB en / con 29 GB libres. Es la respuesta a la consigna de configurar la partición para utilizar el espacio asignado.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Del Soto. Comunicación con otras máquinas: desde la VM se hace ping a 8.8.8.8 y a google.com por IPv4, y desde la PC se hace ping y SSH a 192.168.1.14. Problemas reales: la distribución de teclado de la consola virtual no coincidía con la del teclado físico y los comandos salían alterados, por lo que se administró por SSH desde PowerShell; y el ping a google.com por IPv6 daba 100% de pérdida porque la red local no enruta IPv6, se verificó con ping -4. Configuración básica: zona horaria con timedatectl y nombre del equipo con hostnamectl (srv-ubuntu01).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Del Soto. La VM se administra por SSH desde la PC, tal como se opera un servidor real. Ventajas de la línea de comandos: sin entorno gráfico se consumen menos recursos, hay menos superficie de ataque, y todo puede automatizarse con scripts. En la captura se ve la conexión desde PowerShell y el prompt con el nuevo nombre del equipo, srv-ubuntu01. Mostrar hostnamectl, timedatectl, ip a y df -h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Del Soto. Explicar la diferencia entre los tres modos. Bridged conecta la placa de red virtual directamente a la red física: la VM pide IP al mismo router que la PC. Por eso otros equipos (un HMI, un PLC, un cliente SCADA) pueden alcanzarla. En NAT la VM queda escondida detrás del anfitrión y en Host-only solo la ve el anfitrión. Mencionar la configuración en VMware: Virtual Network Editor, VMnet0 vinculado al adaptador real. Si hubo problemas con Wi-Fi, contarlo como problema encontrado.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Ferrero. Cloud es consumir infraestructura como servicio, pagando por uso. Ventajas para una industria: se reemplaza inversión en equipos por gasto por uso, se escala rápido, los respaldos y la alta disponibilidad vienen incluidos y se puede acceder desde distintas plantas. Impactos: dependencia de la conexión, la latencia hace que el control en tiempo real siga siendo local (la nube sirve para históricos, analítica y reportes), costos que pueden crecer y una superficie de ataque mayor. Por eso el siguiente tema es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Ferrero. Recorrer el proceso: registro con email, elección del plan, datos de contacto y método de pago, verificación y acceso a la consola como usuario raíz. Para cuentas nuevas AWS ofrece un Free plan de hasta 6 meses o hasta agotar créditos. La captura muestra la consola con la región us-east-1 (Norte de Virginia) seleccionada. El identificador de cuenta está tapado en la captura. Mencionar MFA como buena práctica solo si lo activaron.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Ferrero. El modelo de responsabilidad compartida es la idea central de la seguridad en cloud. AWS protege la infraestructura; el cliente protege lo que configura. Al usar RDS, AWS administra el sistema operativo, los parches y los backups, pero decidir quién puede llegar al puerto de la base es nuestra tarea. Eso nos lleva al Security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Ferrero. Un Security Group es un firewall virtual con estado. Creamos una regla de entrada: tipo MSSQL, protocolo TCP, puerto 1433, origen Mi IP. 1433 es el puerto por defecto de SQL Server; sin abrirlo no hay forma de conectarse desde afuera. La consola completa la IP pública con /32, que significa una sola dirección. Si presentan desde otra red, editar la regla y volver a elegir Mi IP antes de la conexión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Ferrero. Esta es la justificación oral que pide el enunciado. Abrimos 1433 solo a Mi IP por el principio de mínimo privilegio: únicamente nuestro equipo puede intentar conectarse. Dejarlo abierto a 0.0.0.0/0 publica la base a todo Internet, donde hay escáneres que barren ese puerto continuamente: fuerza bruta al usuario administrador, explotación de vulnerabilidades del motor, robo o cifrado de datos de producción y consumo de recursos con costos. En un entorno industrial real la base no se expone a Internet: va en subred privada con VPN. Para el laboratorio se usa acceso público solo por necesidad.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Vera. Mostrar las capturas del asistente de creación de RDS. Elegimos SQL Server Express Edition, que es la edición gratuita con límite de 10 GB por base. RDS es un servicio administrado (PaaS): AWS se encarga del sistema operativo, los parches y los backups. Single-AZ porque no necesitamos alta disponibilidad para el laboratorio, 20 GiB es el mínimo, y el acceso público es necesario para conectarnos desde nuestra PC, protegido por el Security Group. Mostrar el costo estimado y el estado Available con el endpoint. Ajustar esta tabla a lo que realmente eligieron.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Vera. Evidencia de la instancia ya creada: identificador planta-industrial-db, estado Disponible, motor SQL Server Express Edition, clase db.t3.micro y región us-east-1. A la derecha, el punto de enlace (endpoint) y el puerto 1433, que son los datos que se usan en SSMS. Recordar que tras la defensa se elimina la instancia para evitar costos.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Vera. Resumen visual de todo el recorrido: el cliente SSMS en la PC llega por Internet al Security Group, que filtra por origen y puerto, y recién entonces alcanza la instancia RDS con SQL Server Express. Si el Security Group no autoriza nuestra IP, la conexión no se establece. Esta lámina conecta el bloque 2 con el bloque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Vera. Proyectar SSMS ya conectado al endpoint de AWS. El nombre del servidor es el endpoint, una coma y el puerto (es coma, no dos puntos). Autenticación SQL Server con el usuario maestro admin. Si hay error de certificado se tilda Trust server certificate. Si no conecta, la primera prueba es Test-NetConnection al puerto 1433: si falla, casi siempre cambió nuestra IP y hay que actualizar el Security Group. Tener una captura de respaldo por si falla la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Vera. Explicar cada parte. CREATE DATABASE y CREATE TABLE son DDL. USE cambia el contexto a la base. GO no es T-SQL: es un separador de lotes de SSMS. En la tabla: IDENTITY genera el número de evento automáticamente, PRIMARY KEY lo hace identificador único, NOT NULL obliga a cargar el dato, DEFAULT SYSDATETIME sella la hora sin tener que cargarla y CHECK restringe los tipos válidos para garantizar integridad. Por qué esta tabla: un sistema industrial registra eventos (fallas, alarmas, producción) con fecha, equipo y valor; es la base de un histórico que alimenta un SCADA o tableros.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Vera. Versión resumida del script; el script completo está en el informe. INSERT es DML: agrega filas con datos de prueba de la planta. SELECT consulta; el segundo SELECT agrupa con GROUP BY para contar eventos por tipo. Mostrar el resultado en vivo. Si alguien pregunta la diferencia entre DDL y DML: DDL define estructuras (CREATE) y DML manipula datos (INSERT, SELECT, UPDATE, DELETE). Ajustar las filas a las que realmente cargaron.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Vera. Cerrar con cinco ideas. Recordar el hilo: de la VM local a la base en la nube, con seguridad en cada paso. Terminar invitando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Vera. Tener abiertas la consola de AWS, SSMS y las VMs para responder en vivo cualquier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812800"/>
            <a:ext cx="762000" cy="50800"/>
          </a:xfrm>
          <a:prstGeom prst="rect">
            <a:avLst/>
          </a:prstGeom>
          <a:solidFill>
            <a:srgbClr val="1F4E79"/>
          </a:solidFill>
          <a:ln/>
        </p:spPr>
      </p:sp>
      <p:sp>
        <p:nvSpPr>
          <p:cNvPr id="3" name="Text 1"/>
          <p:cNvSpPr/>
          <p:nvPr/>
        </p:nvSpPr>
        <p:spPr>
          <a:xfrm>
            <a:off x="812800" y="190132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Parcial N° 1 · Proyecto integrador</a:t>
            </a:r>
            <a:endParaRPr lang="en-US" sz="1400" dirty="0"/>
          </a:p>
        </p:txBody>
      </p:sp>
      <p:sp>
        <p:nvSpPr>
          <p:cNvPr id="4" name="Text 2"/>
          <p:cNvSpPr/>
          <p:nvPr/>
        </p:nvSpPr>
        <p:spPr>
          <a:xfrm>
            <a:off x="812800" y="237877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F2937"/>
                </a:solidFill>
                <a:latin typeface="IBM Plex Sans" pitchFamily="34" charset="0"/>
                <a:ea typeface="IBM Plex Sans" pitchFamily="34" charset="-122"/>
                <a:cs typeface="IBM Plex Sans" pitchFamily="34" charset="-120"/>
              </a:rPr>
              <a:t>De local a la nube</a:t>
            </a:r>
            <a:endParaRPr lang="en-US" sz="5600" dirty="0"/>
          </a:p>
        </p:txBody>
      </p:sp>
      <p:sp>
        <p:nvSpPr>
          <p:cNvPr id="5" name="Text 3"/>
          <p:cNvSpPr/>
          <p:nvPr/>
        </p:nvSpPr>
        <p:spPr>
          <a:xfrm>
            <a:off x="812800" y="335409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B5563"/>
                </a:solidFill>
                <a:latin typeface="IBM Plex Sans" pitchFamily="34" charset="0"/>
                <a:ea typeface="IBM Plex Sans" pitchFamily="34" charset="-122"/>
                <a:cs typeface="IBM Plex Sans" pitchFamily="34" charset="-120"/>
              </a:rPr>
              <a:t>Infraestructura informática industrial: servidores virtuales y base de datos en AWS</a:t>
            </a:r>
            <a:endParaRPr lang="en-US" sz="2200" dirty="0"/>
          </a:p>
        </p:txBody>
      </p:sp>
      <p:sp>
        <p:nvSpPr>
          <p:cNvPr id="6" name="Text 4"/>
          <p:cNvSpPr/>
          <p:nvPr/>
        </p:nvSpPr>
        <p:spPr>
          <a:xfrm>
            <a:off x="812800" y="5034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Informática Industrial · UTN FRC · Licenciatura en Automatización y Control</a:t>
            </a:r>
            <a:endParaRPr lang="en-US" sz="1400" dirty="0"/>
          </a:p>
        </p:txBody>
      </p:sp>
      <p:sp>
        <p:nvSpPr>
          <p:cNvPr id="7" name="Text 5"/>
          <p:cNvSpPr/>
          <p:nvPr/>
        </p:nvSpPr>
        <p:spPr>
          <a:xfrm>
            <a:off x="812800" y="55118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IBM Plex Sans" pitchFamily="34" charset="0"/>
                <a:ea typeface="IBM Plex Sans" pitchFamily="34" charset="-122"/>
                <a:cs typeface="IBM Plex Sans" pitchFamily="34" charset="-120"/>
              </a:rPr>
              <a:t>Casali, Emiliano (210237) · Del Soto, Juan Gustavo (421822) · Ferrero, Facundo José (420841) · Vera, Cristian Gonzalo (420581)</a:t>
            </a:r>
            <a:endParaRPr lang="en-US" sz="1500" dirty="0"/>
          </a:p>
        </p:txBody>
      </p:sp>
      <p:pic>
        <p:nvPicPr>
          <p:cNvPr id="8" name="Image 0" descr="UTN Facultad Regional Córdoba">    </p:cNvPr>
          <p:cNvPicPr>
            <a:picLocks noChangeAspect="1"/>
          </p:cNvPicPr>
          <p:nvPr/>
        </p:nvPicPr>
        <p:blipFill>
          <a:blip r:embed="rId1"/>
          <a:srcRect l="-65" r="-65" t="0" b="0"/>
          <a:stretch/>
        </p:blipFill>
        <p:spPr>
          <a:xfrm>
            <a:off x="9093200" y="609600"/>
            <a:ext cx="2286000" cy="901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Estructura de la defensa</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Recorrido en tres bloques</a:t>
            </a:r>
            <a:endParaRPr lang="en-US" sz="3200" dirty="0"/>
          </a:p>
        </p:txBody>
      </p:sp>
      <p:sp>
        <p:nvSpPr>
          <p:cNvPr id="4" name="Shape 2"/>
          <p:cNvSpPr/>
          <p:nvPr/>
        </p:nvSpPr>
        <p:spPr>
          <a:xfrm>
            <a:off x="819150" y="1819771"/>
            <a:ext cx="3373934" cy="3289598"/>
          </a:xfrm>
          <a:prstGeom prst="roundRect">
            <a:avLst>
              <a:gd name="adj" fmla="val 2895"/>
            </a:avLst>
          </a:prstGeom>
          <a:solidFill>
            <a:srgbClr val="FFFFFF"/>
          </a:solidFill>
          <a:ln w="12700">
            <a:solidFill>
              <a:srgbClr val="D1D5DB"/>
            </a:solidFill>
            <a:prstDash val="solid"/>
          </a:ln>
        </p:spPr>
      </p:sp>
      <p:sp>
        <p:nvSpPr>
          <p:cNvPr id="5" name="Text 3"/>
          <p:cNvSpPr/>
          <p:nvPr/>
        </p:nvSpPr>
        <p:spPr>
          <a:xfrm>
            <a:off x="1054100" y="2054721"/>
            <a:ext cx="2991155" cy="60444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Infraestructura local y virtualización</a:t>
            </a:r>
            <a:endParaRPr lang="en-US" sz="1900" dirty="0"/>
          </a:p>
        </p:txBody>
      </p:sp>
      <p:sp>
        <p:nvSpPr>
          <p:cNvPr id="6" name="Text 4"/>
          <p:cNvSpPr/>
          <p:nvPr/>
        </p:nvSpPr>
        <p:spPr>
          <a:xfrm>
            <a:off x="1054100" y="2722662"/>
            <a:ext cx="2991155"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5563"/>
                </a:solidFill>
                <a:latin typeface="IBM Plex Sans" pitchFamily="34" charset="0"/>
                <a:ea typeface="IBM Plex Sans" pitchFamily="34" charset="-122"/>
                <a:cs typeface="IBM Plex Sans" pitchFamily="34" charset="-120"/>
              </a:rPr>
              <a:t>Servidor de aplicación industrial, TP1 Windows Server y TP2 Ubuntu Server en VMware.</a:t>
            </a:r>
            <a:endParaRPr lang="en-US" sz="1400" dirty="0"/>
          </a:p>
        </p:txBody>
      </p:sp>
      <p:sp>
        <p:nvSpPr>
          <p:cNvPr id="7" name="Shape 5"/>
          <p:cNvSpPr/>
          <p:nvPr/>
        </p:nvSpPr>
        <p:spPr>
          <a:xfrm>
            <a:off x="4408984" y="1819771"/>
            <a:ext cx="3374033" cy="3289598"/>
          </a:xfrm>
          <a:prstGeom prst="roundRect">
            <a:avLst>
              <a:gd name="adj" fmla="val 2895"/>
            </a:avLst>
          </a:prstGeom>
          <a:solidFill>
            <a:srgbClr val="FFFFFF"/>
          </a:solidFill>
          <a:ln w="12700">
            <a:solidFill>
              <a:srgbClr val="D1D5DB"/>
            </a:solidFill>
            <a:prstDash val="solid"/>
          </a:ln>
        </p:spPr>
      </p:sp>
      <p:sp>
        <p:nvSpPr>
          <p:cNvPr id="8" name="Text 6"/>
          <p:cNvSpPr/>
          <p:nvPr/>
        </p:nvSpPr>
        <p:spPr>
          <a:xfrm>
            <a:off x="4643934" y="2054721"/>
            <a:ext cx="2991257" cy="60444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Migración a la nube y ciberseguridad</a:t>
            </a:r>
            <a:endParaRPr lang="en-US" sz="1900" dirty="0"/>
          </a:p>
        </p:txBody>
      </p:sp>
      <p:sp>
        <p:nvSpPr>
          <p:cNvPr id="9" name="Text 7"/>
          <p:cNvSpPr/>
          <p:nvPr/>
        </p:nvSpPr>
        <p:spPr>
          <a:xfrm>
            <a:off x="4643934" y="2722662"/>
            <a:ext cx="299125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5563"/>
                </a:solidFill>
                <a:latin typeface="IBM Plex Sans" pitchFamily="34" charset="0"/>
                <a:ea typeface="IBM Plex Sans" pitchFamily="34" charset="-122"/>
                <a:cs typeface="IBM Plex Sans" pitchFamily="34" charset="-120"/>
              </a:rPr>
              <a:t>Ventajas del cloud, cuenta de AWS y Security Group con el puerto 1433.</a:t>
            </a:r>
            <a:endParaRPr lang="en-US" sz="1400" dirty="0"/>
          </a:p>
        </p:txBody>
      </p:sp>
      <p:sp>
        <p:nvSpPr>
          <p:cNvPr id="10" name="Shape 8"/>
          <p:cNvSpPr/>
          <p:nvPr/>
        </p:nvSpPr>
        <p:spPr>
          <a:xfrm>
            <a:off x="7998916" y="1819771"/>
            <a:ext cx="3373934" cy="3289598"/>
          </a:xfrm>
          <a:prstGeom prst="roundRect">
            <a:avLst>
              <a:gd name="adj" fmla="val 2895"/>
            </a:avLst>
          </a:prstGeom>
          <a:solidFill>
            <a:srgbClr val="FFFFFF"/>
          </a:solidFill>
          <a:ln w="12700">
            <a:solidFill>
              <a:srgbClr val="D1D5DB"/>
            </a:solidFill>
            <a:prstDash val="solid"/>
          </a:ln>
        </p:spPr>
      </p:sp>
      <p:sp>
        <p:nvSpPr>
          <p:cNvPr id="11" name="Text 9"/>
          <p:cNvSpPr/>
          <p:nvPr/>
        </p:nvSpPr>
        <p:spPr>
          <a:xfrm>
            <a:off x="8233866" y="2054721"/>
            <a:ext cx="2991155" cy="60444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Implementación y demostración</a:t>
            </a:r>
            <a:endParaRPr lang="en-US" sz="1900" dirty="0"/>
          </a:p>
        </p:txBody>
      </p:sp>
      <p:sp>
        <p:nvSpPr>
          <p:cNvPr id="12" name="Text 10"/>
          <p:cNvSpPr/>
          <p:nvPr/>
        </p:nvSpPr>
        <p:spPr>
          <a:xfrm>
            <a:off x="8233866" y="2722662"/>
            <a:ext cx="299115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5563"/>
                </a:solidFill>
                <a:latin typeface="IBM Plex Sans" pitchFamily="34" charset="0"/>
                <a:ea typeface="IBM Plex Sans" pitchFamily="34" charset="-122"/>
                <a:cs typeface="IBM Plex Sans" pitchFamily="34" charset="-120"/>
              </a:rPr>
              <a:t>RDS SQL Server Express, conexión desde SSMS y script Transact-SQL.</a:t>
            </a:r>
            <a:endParaRPr lang="en-US" sz="1400" dirty="0"/>
          </a:p>
        </p:txBody>
      </p:sp>
      <p:sp>
        <p:nvSpPr>
          <p:cNvPr id="13" name="Text 11"/>
          <p:cNvSpPr/>
          <p:nvPr/>
        </p:nvSpPr>
        <p:spPr>
          <a:xfrm>
            <a:off x="812800" y="5344319"/>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B5563"/>
                </a:solidFill>
                <a:latin typeface="IBM Plex Sans" pitchFamily="34" charset="0"/>
                <a:ea typeface="IBM Plex Sans" pitchFamily="34" charset="-122"/>
                <a:cs typeface="IBM Plex Sans" pitchFamily="34" charset="-120"/>
              </a:rPr>
              <a:t>Quién expone:</a:t>
            </a:r>
            <a:r>
              <a:rPr lang="en-US" sz="1400" dirty="0">
                <a:solidFill>
                  <a:srgbClr val="4B5563"/>
                </a:solidFill>
                <a:latin typeface="IBM Plex Sans" pitchFamily="34" charset="0"/>
                <a:ea typeface="IBM Plex Sans" pitchFamily="34" charset="-122"/>
                <a:cs typeface="IBM Plex Sans" pitchFamily="34" charset="-120"/>
              </a:rPr>
              <a:t> 1 Emiliano Casali (apertura, servidor, virtualización y TP1) · 2 Gustavo Del Soto (roles e IIS, TP2 y red) · 3 Facundo Ferrero (nube, cuenta AWS y Security Group) · 4 Cristian Vera (RDS, SSMS, T-SQL y cierre)</a:t>
            </a:r>
            <a:endParaRPr lang="en-US" sz="1400" dirty="0"/>
          </a:p>
        </p:txBody>
      </p:sp>
      <p:pic>
        <p:nvPicPr>
          <p:cNvPr id="14"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15" name="Text 12"/>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6" name="Text 1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Introducción · Expone: Casali</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Concepto</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Servidor de aplicación industrial</a:t>
            </a:r>
            <a:endParaRPr lang="en-US" sz="3200" dirty="0"/>
          </a:p>
        </p:txBody>
      </p:sp>
      <p:sp>
        <p:nvSpPr>
          <p:cNvPr id="4" name="Text 2"/>
          <p:cNvSpPr/>
          <p:nvPr/>
        </p:nvSpPr>
        <p:spPr>
          <a:xfrm>
            <a:off x="812800" y="181342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IBM Plex Sans" pitchFamily="34" charset="0"/>
                <a:ea typeface="IBM Plex Sans" pitchFamily="34" charset="-122"/>
                <a:cs typeface="IBM Plex Sans" pitchFamily="34" charset="-120"/>
              </a:rPr>
              <a:t>Equipo, físico o virtual, que ejecuta de forma continua los servicios de los que depende la planta.</a:t>
            </a:r>
            <a:endParaRPr lang="en-US" sz="1600" dirty="0"/>
          </a:p>
        </p:txBody>
      </p:sp>
      <p:sp>
        <p:nvSpPr>
          <p:cNvPr id="5" name="Shape 3"/>
          <p:cNvSpPr/>
          <p:nvPr/>
        </p:nvSpPr>
        <p:spPr>
          <a:xfrm>
            <a:off x="819150" y="2332831"/>
            <a:ext cx="2514600" cy="2989759"/>
          </a:xfrm>
          <a:prstGeom prst="roundRect">
            <a:avLst>
              <a:gd name="adj" fmla="val 3788"/>
            </a:avLst>
          </a:prstGeom>
          <a:solidFill>
            <a:srgbClr val="FFFFFF"/>
          </a:solidFill>
          <a:ln w="12700">
            <a:solidFill>
              <a:srgbClr val="D1D5DB"/>
            </a:solidFill>
            <a:prstDash val="solid"/>
          </a:ln>
        </p:spPr>
      </p:sp>
      <p:sp>
        <p:nvSpPr>
          <p:cNvPr id="6" name="Text 4"/>
          <p:cNvSpPr/>
          <p:nvPr/>
        </p:nvSpPr>
        <p:spPr>
          <a:xfrm>
            <a:off x="1054100" y="2567781"/>
            <a:ext cx="210604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SCADA</a:t>
            </a:r>
            <a:endParaRPr lang="en-US" sz="1900" dirty="0"/>
          </a:p>
        </p:txBody>
      </p:sp>
      <p:sp>
        <p:nvSpPr>
          <p:cNvPr id="7" name="Text 5"/>
          <p:cNvSpPr/>
          <p:nvPr/>
        </p:nvSpPr>
        <p:spPr>
          <a:xfrm>
            <a:off x="1054100" y="2946202"/>
            <a:ext cx="210604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563"/>
                </a:solidFill>
                <a:latin typeface="IBM Plex Sans" pitchFamily="34" charset="0"/>
                <a:ea typeface="IBM Plex Sans" pitchFamily="34" charset="-122"/>
                <a:cs typeface="IBM Plex Sans" pitchFamily="34" charset="-120"/>
              </a:rPr>
              <a:t>Supervisión y control de procesos.</a:t>
            </a:r>
            <a:endParaRPr lang="en-US" sz="1300" dirty="0"/>
          </a:p>
        </p:txBody>
      </p:sp>
      <p:sp>
        <p:nvSpPr>
          <p:cNvPr id="8" name="Shape 6"/>
          <p:cNvSpPr/>
          <p:nvPr/>
        </p:nvSpPr>
        <p:spPr>
          <a:xfrm>
            <a:off x="3498850" y="2332831"/>
            <a:ext cx="2514600" cy="2989759"/>
          </a:xfrm>
          <a:prstGeom prst="roundRect">
            <a:avLst>
              <a:gd name="adj" fmla="val 3788"/>
            </a:avLst>
          </a:prstGeom>
          <a:solidFill>
            <a:srgbClr val="FFFFFF"/>
          </a:solidFill>
          <a:ln w="12700">
            <a:solidFill>
              <a:srgbClr val="D1D5DB"/>
            </a:solidFill>
            <a:prstDash val="solid"/>
          </a:ln>
        </p:spPr>
      </p:sp>
      <p:sp>
        <p:nvSpPr>
          <p:cNvPr id="9" name="Text 7"/>
          <p:cNvSpPr/>
          <p:nvPr/>
        </p:nvSpPr>
        <p:spPr>
          <a:xfrm>
            <a:off x="3733800" y="2567781"/>
            <a:ext cx="210604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Historiador</a:t>
            </a:r>
            <a:endParaRPr lang="en-US" sz="1900" dirty="0"/>
          </a:p>
        </p:txBody>
      </p:sp>
      <p:sp>
        <p:nvSpPr>
          <p:cNvPr id="10" name="Text 8"/>
          <p:cNvSpPr/>
          <p:nvPr/>
        </p:nvSpPr>
        <p:spPr>
          <a:xfrm>
            <a:off x="3733800" y="2946202"/>
            <a:ext cx="210604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563"/>
                </a:solidFill>
                <a:latin typeface="IBM Plex Sans" pitchFamily="34" charset="0"/>
                <a:ea typeface="IBM Plex Sans" pitchFamily="34" charset="-122"/>
                <a:cs typeface="IBM Plex Sans" pitchFamily="34" charset="-120"/>
              </a:rPr>
              <a:t>Registro de datos y tendencias.</a:t>
            </a:r>
            <a:endParaRPr lang="en-US" sz="1300" dirty="0"/>
          </a:p>
        </p:txBody>
      </p:sp>
      <p:sp>
        <p:nvSpPr>
          <p:cNvPr id="11" name="Shape 9"/>
          <p:cNvSpPr/>
          <p:nvPr/>
        </p:nvSpPr>
        <p:spPr>
          <a:xfrm>
            <a:off x="6178550" y="2332831"/>
            <a:ext cx="2514600" cy="2989759"/>
          </a:xfrm>
          <a:prstGeom prst="roundRect">
            <a:avLst>
              <a:gd name="adj" fmla="val 3788"/>
            </a:avLst>
          </a:prstGeom>
          <a:solidFill>
            <a:srgbClr val="FFFFFF"/>
          </a:solidFill>
          <a:ln w="12700">
            <a:solidFill>
              <a:srgbClr val="D1D5DB"/>
            </a:solidFill>
            <a:prstDash val="solid"/>
          </a:ln>
        </p:spPr>
      </p:sp>
      <p:sp>
        <p:nvSpPr>
          <p:cNvPr id="12" name="Text 10"/>
          <p:cNvSpPr/>
          <p:nvPr/>
        </p:nvSpPr>
        <p:spPr>
          <a:xfrm>
            <a:off x="6413500" y="2567781"/>
            <a:ext cx="210604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Servidor OPC</a:t>
            </a:r>
            <a:endParaRPr lang="en-US" sz="1900" dirty="0"/>
          </a:p>
        </p:txBody>
      </p:sp>
      <p:sp>
        <p:nvSpPr>
          <p:cNvPr id="13" name="Text 11"/>
          <p:cNvSpPr/>
          <p:nvPr/>
        </p:nvSpPr>
        <p:spPr>
          <a:xfrm>
            <a:off x="6413500" y="2946202"/>
            <a:ext cx="210604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563"/>
                </a:solidFill>
                <a:latin typeface="IBM Plex Sans" pitchFamily="34" charset="0"/>
                <a:ea typeface="IBM Plex Sans" pitchFamily="34" charset="-122"/>
                <a:cs typeface="IBM Plex Sans" pitchFamily="34" charset="-120"/>
              </a:rPr>
              <a:t>Enlace con PLC y equipos de campo.</a:t>
            </a:r>
            <a:endParaRPr lang="en-US" sz="1300" dirty="0"/>
          </a:p>
        </p:txBody>
      </p:sp>
      <p:sp>
        <p:nvSpPr>
          <p:cNvPr id="14" name="Shape 12"/>
          <p:cNvSpPr/>
          <p:nvPr/>
        </p:nvSpPr>
        <p:spPr>
          <a:xfrm>
            <a:off x="8858250" y="2332831"/>
            <a:ext cx="2514600" cy="2989759"/>
          </a:xfrm>
          <a:prstGeom prst="roundRect">
            <a:avLst>
              <a:gd name="adj" fmla="val 3788"/>
            </a:avLst>
          </a:prstGeom>
          <a:solidFill>
            <a:srgbClr val="FFFFFF"/>
          </a:solidFill>
          <a:ln w="12700">
            <a:solidFill>
              <a:srgbClr val="D1D5DB"/>
            </a:solidFill>
            <a:prstDash val="solid"/>
          </a:ln>
        </p:spPr>
      </p:sp>
      <p:sp>
        <p:nvSpPr>
          <p:cNvPr id="15" name="Text 13"/>
          <p:cNvSpPr/>
          <p:nvPr/>
        </p:nvSpPr>
        <p:spPr>
          <a:xfrm>
            <a:off x="9093200" y="2567781"/>
            <a:ext cx="210604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Base de datos</a:t>
            </a:r>
            <a:endParaRPr lang="en-US" sz="1900" dirty="0"/>
          </a:p>
        </p:txBody>
      </p:sp>
      <p:sp>
        <p:nvSpPr>
          <p:cNvPr id="16" name="Text 14"/>
          <p:cNvSpPr/>
          <p:nvPr/>
        </p:nvSpPr>
        <p:spPr>
          <a:xfrm>
            <a:off x="9093200" y="2946202"/>
            <a:ext cx="210604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563"/>
                </a:solidFill>
                <a:latin typeface="IBM Plex Sans" pitchFamily="34" charset="0"/>
                <a:ea typeface="IBM Plex Sans" pitchFamily="34" charset="-122"/>
                <a:cs typeface="IBM Plex Sans" pitchFamily="34" charset="-120"/>
              </a:rPr>
              <a:t>Eventos, producción y trazabilidad.</a:t>
            </a:r>
            <a:endParaRPr lang="en-US" sz="1300" dirty="0"/>
          </a:p>
        </p:txBody>
      </p:sp>
      <p:sp>
        <p:nvSpPr>
          <p:cNvPr id="17" name="Text 15"/>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IBM Plex Sans" pitchFamily="34" charset="0"/>
                <a:ea typeface="IBM Plex Sans" pitchFamily="34" charset="-122"/>
                <a:cs typeface="IBM Plex Sans" pitchFamily="34" charset="-120"/>
              </a:rPr>
              <a:t>Se dimensiona para 24/7:</a:t>
            </a:r>
            <a:r>
              <a:rPr lang="en-US" sz="1600" dirty="0">
                <a:solidFill>
                  <a:srgbClr val="1F2937"/>
                </a:solidFill>
                <a:latin typeface="IBM Plex Sans" pitchFamily="34" charset="0"/>
                <a:ea typeface="IBM Plex Sans" pitchFamily="34" charset="-122"/>
                <a:cs typeface="IBM Plex Sans" pitchFamily="34" charset="-120"/>
              </a:rPr>
              <a:t> disponibilidad, usuarios y permisos, respaldos y monitoreo.</a:t>
            </a:r>
            <a:endParaRPr lang="en-US" sz="1600" dirty="0"/>
          </a:p>
        </p:txBody>
      </p:sp>
      <p:pic>
        <p:nvPicPr>
          <p:cNvPr id="18"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19" name="Text 16"/>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20" name="Text 1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Casali</a:t>
            </a:r>
            <a:endParaRPr lang="en-US" sz="1200" dirty="0"/>
          </a:p>
        </p:txBody>
      </p:sp>
      <p:sp>
        <p:nvSpPr>
          <p:cNvPr id="21"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Concepto</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Virtualización en producción</a:t>
            </a:r>
            <a:endParaRPr lang="en-US" sz="3200" dirty="0"/>
          </a:p>
        </p:txBody>
      </p:sp>
      <p:sp>
        <p:nvSpPr>
          <p:cNvPr id="4" name="Shape 2"/>
          <p:cNvSpPr/>
          <p:nvPr/>
        </p:nvSpPr>
        <p:spPr>
          <a:xfrm>
            <a:off x="819150" y="1819771"/>
            <a:ext cx="5168900" cy="3502819"/>
          </a:xfrm>
          <a:prstGeom prst="roundRect">
            <a:avLst>
              <a:gd name="adj" fmla="val 2719"/>
            </a:avLst>
          </a:prstGeom>
          <a:solidFill>
            <a:srgbClr val="FFFFFF"/>
          </a:solidFill>
          <a:ln w="12700">
            <a:solidFill>
              <a:srgbClr val="D1D5DB"/>
            </a:solidFill>
            <a:prstDash val="solid"/>
          </a:ln>
        </p:spPr>
      </p:sp>
      <p:sp>
        <p:nvSpPr>
          <p:cNvPr id="5" name="Text 3"/>
          <p:cNvSpPr/>
          <p:nvPr/>
        </p:nvSpPr>
        <p:spPr>
          <a:xfrm>
            <a:off x="1054100" y="205472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Tipo 1: bare metal</a:t>
            </a:r>
            <a:endParaRPr lang="en-US" sz="1900" dirty="0"/>
          </a:p>
        </p:txBody>
      </p:sp>
      <p:sp>
        <p:nvSpPr>
          <p:cNvPr id="6" name="Text 4"/>
          <p:cNvSpPr/>
          <p:nvPr/>
        </p:nvSpPr>
        <p:spPr>
          <a:xfrm>
            <a:off x="1054100" y="2433141"/>
            <a:ext cx="483997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5563"/>
                </a:solidFill>
                <a:latin typeface="IBM Plex Sans" pitchFamily="34" charset="0"/>
                <a:ea typeface="IBM Plex Sans" pitchFamily="34" charset="-122"/>
                <a:cs typeface="IBM Plex Sans" pitchFamily="34" charset="-120"/>
              </a:rPr>
              <a:t>Corre directo sobre el hardware. Ejemplos: VMware ESXi y Hyper-V. Es lo que se usa en producción.</a:t>
            </a:r>
            <a:endParaRPr lang="en-US" sz="1400" dirty="0"/>
          </a:p>
        </p:txBody>
      </p:sp>
      <p:sp>
        <p:nvSpPr>
          <p:cNvPr id="7" name="Shape 5"/>
          <p:cNvSpPr/>
          <p:nvPr/>
        </p:nvSpPr>
        <p:spPr>
          <a:xfrm>
            <a:off x="6203950" y="1819771"/>
            <a:ext cx="5168900" cy="3502819"/>
          </a:xfrm>
          <a:prstGeom prst="roundRect">
            <a:avLst>
              <a:gd name="adj" fmla="val 2719"/>
            </a:avLst>
          </a:prstGeom>
          <a:solidFill>
            <a:srgbClr val="FFFFFF"/>
          </a:solidFill>
          <a:ln w="12700">
            <a:solidFill>
              <a:srgbClr val="1F4E79"/>
            </a:solidFill>
            <a:prstDash val="solid"/>
          </a:ln>
        </p:spPr>
      </p:sp>
      <p:sp>
        <p:nvSpPr>
          <p:cNvPr id="8" name="Text 6"/>
          <p:cNvSpPr/>
          <p:nvPr/>
        </p:nvSpPr>
        <p:spPr>
          <a:xfrm>
            <a:off x="6438900" y="205472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Tipo 2: hosted</a:t>
            </a:r>
            <a:endParaRPr lang="en-US" sz="1900" dirty="0"/>
          </a:p>
        </p:txBody>
      </p:sp>
      <p:sp>
        <p:nvSpPr>
          <p:cNvPr id="9" name="Text 7"/>
          <p:cNvSpPr/>
          <p:nvPr/>
        </p:nvSpPr>
        <p:spPr>
          <a:xfrm>
            <a:off x="6438900" y="2433141"/>
            <a:ext cx="483997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5563"/>
                </a:solidFill>
                <a:latin typeface="IBM Plex Sans" pitchFamily="34" charset="0"/>
                <a:ea typeface="IBM Plex Sans" pitchFamily="34" charset="-122"/>
                <a:cs typeface="IBM Plex Sans" pitchFamily="34" charset="-120"/>
              </a:rPr>
              <a:t>Corre sobre un sistema operativo anfitrión. Ejemplos: VMware Workstation y VirtualBox. Es lo que usamos en laboratorio.</a:t>
            </a:r>
            <a:endParaRPr lang="en-US" sz="1400" dirty="0"/>
          </a:p>
        </p:txBody>
      </p:sp>
      <p:sp>
        <p:nvSpPr>
          <p:cNvPr id="10" name="Text 8"/>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IBM Plex Sans" pitchFamily="34" charset="0"/>
                <a:ea typeface="IBM Plex Sans" pitchFamily="34" charset="-122"/>
                <a:cs typeface="IBM Plex Sans" pitchFamily="34" charset="-120"/>
              </a:rPr>
              <a:t>Ventajas:</a:t>
            </a:r>
            <a:r>
              <a:rPr lang="en-US" sz="1600" dirty="0">
                <a:solidFill>
                  <a:srgbClr val="1F2937"/>
                </a:solidFill>
                <a:latin typeface="IBM Plex Sans" pitchFamily="34" charset="0"/>
                <a:ea typeface="IBM Plex Sans" pitchFamily="34" charset="-122"/>
                <a:cs typeface="IBM Plex Sans" pitchFamily="34" charset="-120"/>
              </a:rPr>
              <a:t> consolidación de servidores, aislamiento, snapshots, migración de VMs y recuperación ante desastres.</a:t>
            </a:r>
            <a:endParaRPr lang="en-US" sz="1600" dirty="0"/>
          </a:p>
        </p:txBody>
      </p:sp>
      <p:pic>
        <p:nvPicPr>
          <p:cNvPr id="11"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12" name="Text 9"/>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Casali</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Defensa del TP1</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Windows Server 2022 en VMware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13421"/>
          <a:ext cx="5994400" cy="2745978"/>
        </p:xfrm>
        <a:graphic>
          <a:graphicData uri="http://schemas.openxmlformats.org/drawingml/2006/table">
            <a:tbl>
              <a:tblPr/>
              <a:tblGrid>
                <a:gridCol w="1918208"/>
                <a:gridCol w="4076192"/>
              </a:tblGrid>
              <a:tr h="359271">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Parámetro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Valor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Hipervisor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VMware Workstation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590352">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Sistema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Windows Server 2022 Standard (Desktop Experience)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Memoria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4 GB (mínimo pedido: 2 GB)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Disco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40 GB, partición completa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Bridged (VMnet0)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Nombre / hora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SRV-IND01 · Argentina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bl>
          </a:graphicData>
        </a:graphic>
      </p:graphicFrame>
      <p:pic>
        <p:nvPicPr>
          <p:cNvPr id="5" name="Image 0" descr="Administrador del servidor de Windows Server 2022">    </p:cNvPr>
          <p:cNvPicPr>
            <a:picLocks noChangeAspect="1"/>
          </p:cNvPicPr>
          <p:nvPr/>
        </p:nvPicPr>
        <p:blipFill>
          <a:blip r:embed="rId1"/>
          <a:srcRect l="-65" r="-65" t="0" b="0"/>
          <a:stretch/>
        </p:blipFill>
        <p:spPr>
          <a:xfrm>
            <a:off x="7023100" y="1826121"/>
            <a:ext cx="4343400" cy="3276600"/>
          </a:xfrm>
          <a:prstGeom prst="rect">
            <a:avLst/>
          </a:prstGeom>
        </p:spPr>
      </p:pic>
      <p:sp>
        <p:nvSpPr>
          <p:cNvPr id="6" name="Shape 2"/>
          <p:cNvSpPr/>
          <p:nvPr/>
        </p:nvSpPr>
        <p:spPr>
          <a:xfrm>
            <a:off x="7016750" y="1819771"/>
            <a:ext cx="4356100" cy="3289300"/>
          </a:xfrm>
          <a:prstGeom prst="rect">
            <a:avLst/>
          </a:prstGeom>
          <a:noFill/>
          <a:ln w="12700">
            <a:solidFill>
              <a:srgbClr val="D1D5DB"/>
            </a:solidFill>
            <a:prstDash val="solid"/>
          </a:ln>
        </p:spPr>
      </p:sp>
      <p:sp>
        <p:nvSpPr>
          <p:cNvPr id="7" name="Text 3"/>
          <p:cNvSpPr/>
          <p:nvPr/>
        </p:nvSpPr>
        <p:spPr>
          <a:xfrm>
            <a:off x="7962529" y="5178921"/>
            <a:ext cx="24645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Servidor en funcionamiento (CP10)</a:t>
            </a:r>
            <a:endParaRPr lang="en-US" sz="1200" dirty="0"/>
          </a:p>
        </p:txBody>
      </p:sp>
      <p:pic>
        <p:nvPicPr>
          <p:cNvPr id="8"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9" name="Text 4"/>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0"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Casali</a:t>
            </a:r>
            <a:endParaRPr lang="en-US" sz="1200" dirty="0"/>
          </a:p>
        </p:txBody>
      </p:sp>
      <p:sp>
        <p:nvSpPr>
          <p:cNvPr id="11"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Evidencia del TP1</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Creación de la VM y partición del disco</a:t>
            </a:r>
            <a:endParaRPr lang="en-US" sz="3200" dirty="0"/>
          </a:p>
        </p:txBody>
      </p:sp>
      <p:pic>
        <p:nvPicPr>
          <p:cNvPr id="4" name="Image 0" descr="Resumen del asistente de VMware">    </p:cNvPr>
          <p:cNvPicPr>
            <a:picLocks noChangeAspect="1"/>
          </p:cNvPicPr>
          <p:nvPr/>
        </p:nvPicPr>
        <p:blipFill>
          <a:blip r:embed="rId1"/>
          <a:srcRect l="0" r="0" t="-68" b="-68"/>
          <a:stretch/>
        </p:blipFill>
        <p:spPr>
          <a:xfrm>
            <a:off x="825500" y="1826121"/>
            <a:ext cx="3041650" cy="3403600"/>
          </a:xfrm>
          <a:prstGeom prst="rect">
            <a:avLst/>
          </a:prstGeom>
        </p:spPr>
      </p:pic>
      <p:sp>
        <p:nvSpPr>
          <p:cNvPr id="5" name="Shape 2"/>
          <p:cNvSpPr/>
          <p:nvPr/>
        </p:nvSpPr>
        <p:spPr>
          <a:xfrm>
            <a:off x="819150" y="1819771"/>
            <a:ext cx="3054350" cy="3416300"/>
          </a:xfrm>
          <a:prstGeom prst="rect">
            <a:avLst/>
          </a:prstGeom>
          <a:noFill/>
          <a:ln w="12700">
            <a:solidFill>
              <a:srgbClr val="D1D5DB"/>
            </a:solidFill>
            <a:prstDash val="solid"/>
          </a:ln>
        </p:spPr>
      </p:sp>
      <p:sp>
        <p:nvSpPr>
          <p:cNvPr id="6" name="Text 3"/>
          <p:cNvSpPr/>
          <p:nvPr/>
        </p:nvSpPr>
        <p:spPr>
          <a:xfrm>
            <a:off x="1331015" y="5305921"/>
            <a:ext cx="203062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Resumen del asistente (CP4)</a:t>
            </a:r>
            <a:endParaRPr lang="en-US" sz="1200" dirty="0"/>
          </a:p>
        </p:txBody>
      </p:sp>
      <p:pic>
        <p:nvPicPr>
          <p:cNvPr id="7" name="Image 1" descr="Administración de discos de Windows Server">    </p:cNvPr>
          <p:cNvPicPr>
            <a:picLocks noChangeAspect="1"/>
          </p:cNvPicPr>
          <p:nvPr/>
        </p:nvPicPr>
        <p:blipFill>
          <a:blip r:embed="rId2"/>
          <a:srcRect l="-87" r="-87" t="0" b="0"/>
          <a:stretch/>
        </p:blipFill>
        <p:spPr>
          <a:xfrm>
            <a:off x="4095750" y="1826121"/>
            <a:ext cx="4470400" cy="3403600"/>
          </a:xfrm>
          <a:prstGeom prst="rect">
            <a:avLst/>
          </a:prstGeom>
        </p:spPr>
      </p:pic>
      <p:sp>
        <p:nvSpPr>
          <p:cNvPr id="8" name="Shape 4"/>
          <p:cNvSpPr/>
          <p:nvPr/>
        </p:nvSpPr>
        <p:spPr>
          <a:xfrm>
            <a:off x="4089400" y="1819771"/>
            <a:ext cx="4483100" cy="3416300"/>
          </a:xfrm>
          <a:prstGeom prst="rect">
            <a:avLst/>
          </a:prstGeom>
          <a:noFill/>
          <a:ln w="12700">
            <a:solidFill>
              <a:srgbClr val="D1D5DB"/>
            </a:solidFill>
            <a:prstDash val="solid"/>
          </a:ln>
        </p:spPr>
      </p:sp>
      <p:sp>
        <p:nvSpPr>
          <p:cNvPr id="9" name="Text 5"/>
          <p:cNvSpPr/>
          <p:nvPr/>
        </p:nvSpPr>
        <p:spPr>
          <a:xfrm>
            <a:off x="5097146" y="5305921"/>
            <a:ext cx="24676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Disco de 39,98 GB utilizado (CP11)</a:t>
            </a:r>
            <a:endParaRPr lang="en-US" sz="1200" dirty="0"/>
          </a:p>
        </p:txBody>
      </p:sp>
      <p:sp>
        <p:nvSpPr>
          <p:cNvPr id="10" name="Shape 6"/>
          <p:cNvSpPr/>
          <p:nvPr/>
        </p:nvSpPr>
        <p:spPr>
          <a:xfrm>
            <a:off x="8788400" y="1819771"/>
            <a:ext cx="2584450" cy="4015879"/>
          </a:xfrm>
          <a:prstGeom prst="roundRect">
            <a:avLst>
              <a:gd name="adj" fmla="val 3686"/>
            </a:avLst>
          </a:prstGeom>
          <a:solidFill>
            <a:srgbClr val="FFFFFF"/>
          </a:solidFill>
          <a:ln w="12700">
            <a:solidFill>
              <a:srgbClr val="D1D5DB"/>
            </a:solidFill>
            <a:prstDash val="solid"/>
          </a:ln>
        </p:spPr>
      </p:sp>
      <p:sp>
        <p:nvSpPr>
          <p:cNvPr id="11" name="Text 7"/>
          <p:cNvSpPr/>
          <p:nvPr/>
        </p:nvSpPr>
        <p:spPr>
          <a:xfrm>
            <a:off x="9023350" y="2054721"/>
            <a:ext cx="217798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Qué mostrar</a:t>
            </a:r>
            <a:endParaRPr lang="en-US" sz="1700" dirty="0"/>
          </a:p>
        </p:txBody>
      </p:sp>
      <p:sp>
        <p:nvSpPr>
          <p:cNvPr id="12" name="Text 8"/>
          <p:cNvSpPr/>
          <p:nvPr/>
        </p:nvSpPr>
        <p:spPr>
          <a:xfrm>
            <a:off x="9023350" y="2402681"/>
            <a:ext cx="2177987" cy="1642963"/>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2 CPU y 4 GB de RAM</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Disco de 40 GB</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Red Bridged desde el asistente</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Sistema C: de 39,33 GB en NTFS: usa todo el espacio</a:t>
            </a:r>
            <a:endParaRPr lang="en-US" sz="1300" dirty="0"/>
          </a:p>
        </p:txBody>
      </p:sp>
      <p:pic>
        <p:nvPicPr>
          <p:cNvPr id="13" name="Image 2" descr="UTN Facultad Regional Córdoba">    </p:cNvPr>
          <p:cNvPicPr>
            <a:picLocks noChangeAspect="1"/>
          </p:cNvPicPr>
          <p:nvPr/>
        </p:nvPicPr>
        <p:blipFill>
          <a:blip r:embed="rId3"/>
          <a:srcRect l="-216" r="-216" t="0" b="0"/>
          <a:stretch/>
        </p:blipFill>
        <p:spPr>
          <a:xfrm>
            <a:off x="10248900" y="190500"/>
            <a:ext cx="1130300" cy="444500"/>
          </a:xfrm>
          <a:prstGeom prst="rect">
            <a:avLst/>
          </a:prstGeom>
        </p:spPr>
      </p:pic>
      <p:sp>
        <p:nvSpPr>
          <p:cNvPr id="14" name="Text 9"/>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5"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Casali</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Evidencia del TP1</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Red Bridged y conectividad</a:t>
            </a:r>
            <a:endParaRPr lang="en-US" sz="3200" dirty="0"/>
          </a:p>
        </p:txBody>
      </p:sp>
      <p:pic>
        <p:nvPicPr>
          <p:cNvPr id="4" name="Image 0" descr="Virtual Network Editor de VMware">    </p:cNvPr>
          <p:cNvPicPr>
            <a:picLocks noChangeAspect="1"/>
          </p:cNvPicPr>
          <p:nvPr/>
        </p:nvPicPr>
        <p:blipFill>
          <a:blip r:embed="rId1"/>
          <a:srcRect l="-6641" r="-6641" t="0" b="0"/>
          <a:stretch/>
        </p:blipFill>
        <p:spPr>
          <a:xfrm>
            <a:off x="825500" y="1826121"/>
            <a:ext cx="3848100" cy="3008213"/>
          </a:xfrm>
          <a:prstGeom prst="rect">
            <a:avLst/>
          </a:prstGeom>
        </p:spPr>
      </p:pic>
      <p:sp>
        <p:nvSpPr>
          <p:cNvPr id="5" name="Shape 2"/>
          <p:cNvSpPr/>
          <p:nvPr/>
        </p:nvSpPr>
        <p:spPr>
          <a:xfrm>
            <a:off x="819150" y="1819771"/>
            <a:ext cx="3860800" cy="3020913"/>
          </a:xfrm>
          <a:prstGeom prst="rect">
            <a:avLst/>
          </a:prstGeom>
          <a:noFill/>
          <a:ln w="12700">
            <a:solidFill>
              <a:srgbClr val="D1D5DB"/>
            </a:solidFill>
            <a:prstDash val="solid"/>
          </a:ln>
        </p:spPr>
      </p:sp>
      <p:sp>
        <p:nvSpPr>
          <p:cNvPr id="6" name="Text 3"/>
          <p:cNvSpPr/>
          <p:nvPr/>
        </p:nvSpPr>
        <p:spPr>
          <a:xfrm>
            <a:off x="1268433" y="4910534"/>
            <a:ext cx="2962233" cy="213916"/>
          </a:xfrm>
          <a:prstGeom prst="rect">
            <a:avLst/>
          </a:prstGeom>
          <a:noFill/>
          <a:ln/>
        </p:spPr>
        <p:txBody>
          <a:bodyPr wrap="square" lIns="0" tIns="0" rIns="0" bIns="0" rtlCol="0" anchor="t">
            <a:normAutofit/>
          </a:bodyPr>
          <a:lstStyle/>
          <a:p>
            <a:pPr algn="ctr" indent="0" marL="0">
              <a:lnSpc>
                <a:spcPts val="1523"/>
              </a:lnSpc>
              <a:buNone/>
            </a:pPr>
            <a:r>
              <a:rPr lang="en-US" sz="1088" dirty="0">
                <a:solidFill>
                  <a:srgbClr val="6B7280"/>
                </a:solidFill>
                <a:latin typeface="IBM Plex Sans" pitchFamily="34" charset="0"/>
                <a:ea typeface="IBM Plex Sans" pitchFamily="34" charset="-122"/>
                <a:cs typeface="IBM Plex Sans" pitchFamily="34" charset="-120"/>
              </a:rPr>
              <a:t>VMnet0 en Bridged hacia la placa Wi-Fi (CP22)</a:t>
            </a:r>
            <a:endParaRPr lang="en-US" sz="1088" dirty="0"/>
          </a:p>
        </p:txBody>
      </p:sp>
      <p:pic>
        <p:nvPicPr>
          <p:cNvPr id="7" name="Image 1" descr="ipconfig y ping desde la VM">    </p:cNvPr>
          <p:cNvPicPr>
            <a:picLocks noChangeAspect="1"/>
          </p:cNvPicPr>
          <p:nvPr/>
        </p:nvPicPr>
        <p:blipFill>
          <a:blip r:embed="rId2"/>
          <a:srcRect l="-6642" r="-6642" t="0" b="0"/>
          <a:stretch/>
        </p:blipFill>
        <p:spPr>
          <a:xfrm>
            <a:off x="4902200" y="1826121"/>
            <a:ext cx="4381500" cy="3008213"/>
          </a:xfrm>
          <a:prstGeom prst="rect">
            <a:avLst/>
          </a:prstGeom>
        </p:spPr>
      </p:pic>
      <p:sp>
        <p:nvSpPr>
          <p:cNvPr id="8" name="Shape 4"/>
          <p:cNvSpPr/>
          <p:nvPr/>
        </p:nvSpPr>
        <p:spPr>
          <a:xfrm>
            <a:off x="4895850" y="1819771"/>
            <a:ext cx="4394200" cy="3020913"/>
          </a:xfrm>
          <a:prstGeom prst="rect">
            <a:avLst/>
          </a:prstGeom>
          <a:noFill/>
          <a:ln w="12700">
            <a:solidFill>
              <a:srgbClr val="D1D5DB"/>
            </a:solidFill>
            <a:prstDash val="solid"/>
          </a:ln>
        </p:spPr>
      </p:sp>
      <p:sp>
        <p:nvSpPr>
          <p:cNvPr id="9" name="Text 5"/>
          <p:cNvSpPr/>
          <p:nvPr/>
        </p:nvSpPr>
        <p:spPr>
          <a:xfrm>
            <a:off x="5379340" y="4910534"/>
            <a:ext cx="3427120" cy="213916"/>
          </a:xfrm>
          <a:prstGeom prst="rect">
            <a:avLst/>
          </a:prstGeom>
          <a:noFill/>
          <a:ln/>
        </p:spPr>
        <p:txBody>
          <a:bodyPr wrap="square" lIns="0" tIns="0" rIns="0" bIns="0" rtlCol="0" anchor="t">
            <a:normAutofit/>
          </a:bodyPr>
          <a:lstStyle/>
          <a:p>
            <a:pPr algn="ctr" indent="0" marL="0">
              <a:lnSpc>
                <a:spcPts val="1523"/>
              </a:lnSpc>
              <a:buNone/>
            </a:pPr>
            <a:r>
              <a:rPr lang="en-US" sz="1088" dirty="0">
                <a:solidFill>
                  <a:srgbClr val="6B7280"/>
                </a:solidFill>
                <a:latin typeface="IBM Plex Sans" pitchFamily="34" charset="0"/>
                <a:ea typeface="IBM Plex Sans" pitchFamily="34" charset="-122"/>
                <a:cs typeface="IBM Plex Sans" pitchFamily="34" charset="-120"/>
              </a:rPr>
              <a:t>IP 192.168.1.13 y ping a Internet sin pérdidas (CP26)</a:t>
            </a:r>
            <a:endParaRPr lang="en-US" sz="1088" dirty="0"/>
          </a:p>
        </p:txBody>
      </p:sp>
      <p:sp>
        <p:nvSpPr>
          <p:cNvPr id="10" name="Text 6"/>
          <p:cNvSpPr/>
          <p:nvPr/>
        </p:nvSpPr>
        <p:spPr>
          <a:xfrm>
            <a:off x="812800" y="5327650"/>
            <a:ext cx="10883392"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937"/>
                </a:solidFill>
                <a:latin typeface="IBM Plex Sans" pitchFamily="34" charset="0"/>
                <a:ea typeface="IBM Plex Sans" pitchFamily="34" charset="-122"/>
                <a:cs typeface="IBM Plex Sans" pitchFamily="34" charset="-120"/>
              </a:rPr>
              <a:t>Problema resuelto:</a:t>
            </a:r>
            <a:r>
              <a:rPr lang="en-US" sz="1500" dirty="0">
                <a:solidFill>
                  <a:srgbClr val="1F2937"/>
                </a:solidFill>
                <a:latin typeface="IBM Plex Sans" pitchFamily="34" charset="0"/>
                <a:ea typeface="IBM Plex Sans" pitchFamily="34" charset="-122"/>
                <a:cs typeface="IBM Plex Sans" pitchFamily="34" charset="-120"/>
              </a:rPr>
              <a:t> VMnet0 apuntaba al adaptador Wi-Fi Direct virtual; se asoció a la placa real y la VM tomó una IP de la red local.</a:t>
            </a:r>
            <a:endParaRPr lang="en-US" sz="1500" dirty="0"/>
          </a:p>
        </p:txBody>
      </p:sp>
      <p:pic>
        <p:nvPicPr>
          <p:cNvPr id="11" name="Image 2" descr="UTN Facultad Regional Córdoba">    </p:cNvPr>
          <p:cNvPicPr>
            <a:picLocks noChangeAspect="1"/>
          </p:cNvPicPr>
          <p:nvPr/>
        </p:nvPicPr>
        <p:blipFill>
          <a:blip r:embed="rId3"/>
          <a:srcRect l="-216" r="-216" t="0" b="0"/>
          <a:stretch/>
        </p:blipFill>
        <p:spPr>
          <a:xfrm>
            <a:off x="10248900" y="190500"/>
            <a:ext cx="1130300" cy="444500"/>
          </a:xfrm>
          <a:prstGeom prst="rect">
            <a:avLst/>
          </a:prstGeom>
        </p:spPr>
      </p:pic>
      <p:sp>
        <p:nvSpPr>
          <p:cNvPr id="12" name="Text 7"/>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Casali</a:t>
            </a:r>
            <a:endParaRPr lang="en-US" sz="1200" dirty="0"/>
          </a:p>
        </p:txBody>
      </p:sp>
      <p:sp>
        <p:nvSpPr>
          <p:cNvPr id="14"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Defensa del TP1</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Roles instalados y para qué sirven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13421"/>
          <a:ext cx="10566400" cy="2874169"/>
        </p:xfrm>
        <a:graphic>
          <a:graphicData uri="http://schemas.openxmlformats.org/drawingml/2006/table">
            <a:tbl>
              <a:tblPr/>
              <a:tblGrid>
                <a:gridCol w="2852928"/>
                <a:gridCol w="7713472"/>
              </a:tblGrid>
              <a:tr h="359271">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Componente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Justificación en un entorno industrial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IIS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Servidor web: aloja portales, HMI web, reportes y APIs de planta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ASP.NET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Páginas y servicios web dinámicos, por ejemplo un tablero de producción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ISAPI Extensions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Extienden IIS; usadas por aplicaciones industriales heredadas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Consola de IIS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Administración gráfica de sitios, pools y certificados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NET 3.5 y 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Runtimes: compatibilidad con software heredado y aplicaciones actuales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WCF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Comunicación entre sistemas mediante servicios (SCADA, MES, bases de datos)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Archivos e impresión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Carpetas compartidas para recetas y registros; impresión de etiquetas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bl>
          </a:graphicData>
        </a:graphic>
      </p:graphicFrame>
      <p:pic>
        <p:nvPicPr>
          <p:cNvPr id="5"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6" name="Text 2"/>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7"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Del Soto</a:t>
            </a:r>
            <a:endParaRPr lang="en-US" sz="1200" dirty="0"/>
          </a:p>
        </p:txBody>
      </p:sp>
      <p:sp>
        <p:nvSpPr>
          <p:cNvPr id="8"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Evidencia del TP1</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Roles y características instalados</a:t>
            </a:r>
            <a:endParaRPr lang="en-US" sz="3200" dirty="0"/>
          </a:p>
        </p:txBody>
      </p:sp>
      <p:pic>
        <p:nvPicPr>
          <p:cNvPr id="4" name="Image 0" descr="Listado de características instaladas con Get-WindowsFeature">    </p:cNvPr>
          <p:cNvPicPr>
            <a:picLocks noChangeAspect="1"/>
          </p:cNvPicPr>
          <p:nvPr/>
        </p:nvPicPr>
        <p:blipFill>
          <a:blip r:embed="rId1"/>
          <a:srcRect l="-80" r="-80" t="0" b="0"/>
          <a:stretch/>
        </p:blipFill>
        <p:spPr>
          <a:xfrm>
            <a:off x="825500" y="1826121"/>
            <a:ext cx="4648200" cy="3530600"/>
          </a:xfrm>
          <a:prstGeom prst="rect">
            <a:avLst/>
          </a:prstGeom>
        </p:spPr>
      </p:pic>
      <p:sp>
        <p:nvSpPr>
          <p:cNvPr id="5" name="Shape 2"/>
          <p:cNvSpPr/>
          <p:nvPr/>
        </p:nvSpPr>
        <p:spPr>
          <a:xfrm>
            <a:off x="819150" y="1819771"/>
            <a:ext cx="4660900" cy="3543300"/>
          </a:xfrm>
          <a:prstGeom prst="rect">
            <a:avLst/>
          </a:prstGeom>
          <a:noFill/>
          <a:ln w="12700">
            <a:solidFill>
              <a:srgbClr val="D1D5DB"/>
            </a:solidFill>
            <a:prstDash val="solid"/>
          </a:ln>
        </p:spPr>
      </p:sp>
      <p:sp>
        <p:nvSpPr>
          <p:cNvPr id="6" name="Text 3"/>
          <p:cNvSpPr/>
          <p:nvPr/>
        </p:nvSpPr>
        <p:spPr>
          <a:xfrm>
            <a:off x="1254286" y="5432921"/>
            <a:ext cx="379062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Get-WindowsFeature | Where-Object Installed (CP16)</a:t>
            </a:r>
            <a:endParaRPr lang="en-US" sz="1200" dirty="0"/>
          </a:p>
        </p:txBody>
      </p:sp>
      <p:sp>
        <p:nvSpPr>
          <p:cNvPr id="7" name="Shape 4"/>
          <p:cNvSpPr/>
          <p:nvPr/>
        </p:nvSpPr>
        <p:spPr>
          <a:xfrm>
            <a:off x="5695950" y="1819771"/>
            <a:ext cx="5676900" cy="4015879"/>
          </a:xfrm>
          <a:prstGeom prst="roundRect">
            <a:avLst>
              <a:gd name="adj" fmla="val 2372"/>
            </a:avLst>
          </a:prstGeom>
          <a:solidFill>
            <a:srgbClr val="FFFFFF"/>
          </a:solidFill>
          <a:ln w="12700">
            <a:solidFill>
              <a:srgbClr val="D1D5DB"/>
            </a:solidFill>
            <a:prstDash val="solid"/>
          </a:ln>
        </p:spPr>
      </p:sp>
      <p:sp>
        <p:nvSpPr>
          <p:cNvPr id="8" name="Text 5"/>
          <p:cNvSpPr/>
          <p:nvPr/>
        </p:nvSpPr>
        <p:spPr>
          <a:xfrm>
            <a:off x="5930900" y="2054721"/>
            <a:ext cx="53632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937"/>
                </a:solidFill>
                <a:latin typeface="IBM Plex Sans" pitchFamily="34" charset="0"/>
                <a:ea typeface="IBM Plex Sans" pitchFamily="34" charset="-122"/>
                <a:cs typeface="IBM Plex Sans" pitchFamily="34" charset="-120"/>
              </a:rPr>
              <a:t>Verificado en el listado</a:t>
            </a:r>
            <a:endParaRPr lang="en-US" sz="1800" dirty="0"/>
          </a:p>
        </p:txBody>
      </p:sp>
      <p:sp>
        <p:nvSpPr>
          <p:cNvPr id="9" name="Text 6"/>
          <p:cNvSpPr/>
          <p:nvPr/>
        </p:nvSpPr>
        <p:spPr>
          <a:xfrm>
            <a:off x="5930900" y="2417862"/>
            <a:ext cx="5363210" cy="1020763"/>
          </a:xfrm>
          <a:prstGeom prst="rect">
            <a:avLst/>
          </a:prstGeom>
          <a:noFill/>
          <a:ln/>
        </p:spPr>
        <p:txBody>
          <a:bodyPr wrap="square" lIns="0" tIns="0" rIns="0" bIns="0" rtlCol="0" anchor="t">
            <a:normAutofit/>
          </a:bodyPr>
          <a:lstStyle/>
          <a:p>
            <a:pPr algn="l" marL="342900" indent="-342900">
              <a:lnSpc>
                <a:spcPts val="1960"/>
              </a:lnSpc>
              <a:buSzPct val="100000"/>
              <a:buChar char="•"/>
            </a:pPr>
            <a:r>
              <a:rPr lang="en-US" sz="1400" dirty="0">
                <a:solidFill>
                  <a:srgbClr val="4B5563"/>
                </a:solidFill>
                <a:latin typeface="IBM Plex Sans" pitchFamily="34" charset="0"/>
                <a:ea typeface="IBM Plex Sans" pitchFamily="34" charset="-122"/>
                <a:cs typeface="IBM Plex Sans" pitchFamily="34" charset="-120"/>
              </a:rPr>
              <a:t>IIS con ASP.NET 4.8, ISAPI y Consola</a:t>
            </a:r>
            <a:endParaRPr lang="en-US" sz="1400" dirty="0"/>
          </a:p>
          <a:p>
            <a:pPr algn="l" marL="342900" indent="-342900">
              <a:lnSpc>
                <a:spcPts val="1960"/>
              </a:lnSpc>
              <a:buSzPct val="100000"/>
              <a:buChar char="•"/>
            </a:pPr>
            <a:r>
              <a:rPr lang="en-US" sz="1400" dirty="0">
                <a:solidFill>
                  <a:srgbClr val="4B5563"/>
                </a:solidFill>
                <a:latin typeface="IBM Plex Sans" pitchFamily="34" charset="0"/>
                <a:ea typeface="IBM Plex Sans" pitchFamily="34" charset="-122"/>
                <a:cs typeface="IBM Plex Sans" pitchFamily="34" charset="-120"/>
              </a:rPr>
              <a:t>NET Framework 3.5 y 4.8</a:t>
            </a:r>
            <a:endParaRPr lang="en-US" sz="1400" dirty="0"/>
          </a:p>
          <a:p>
            <a:pPr algn="l" marL="342900" indent="-342900">
              <a:lnSpc>
                <a:spcPts val="1960"/>
              </a:lnSpc>
              <a:buSzPct val="100000"/>
              <a:buChar char="•"/>
            </a:pPr>
            <a:r>
              <a:rPr lang="en-US" sz="1400" dirty="0">
                <a:solidFill>
                  <a:srgbClr val="4B5563"/>
                </a:solidFill>
                <a:latin typeface="IBM Plex Sans" pitchFamily="34" charset="0"/>
                <a:ea typeface="IBM Plex Sans" pitchFamily="34" charset="-122"/>
                <a:cs typeface="IBM Plex Sans" pitchFamily="34" charset="-120"/>
              </a:rPr>
              <a:t>Servicios WCF</a:t>
            </a:r>
            <a:endParaRPr lang="en-US" sz="1400" dirty="0"/>
          </a:p>
          <a:p>
            <a:pPr algn="l" marL="342900" indent="-342900">
              <a:lnSpc>
                <a:spcPts val="1960"/>
              </a:lnSpc>
              <a:buSzPct val="100000"/>
              <a:buChar char="•"/>
            </a:pPr>
            <a:r>
              <a:rPr lang="en-US" sz="1400" dirty="0">
                <a:solidFill>
                  <a:srgbClr val="4B5563"/>
                </a:solidFill>
                <a:latin typeface="IBM Plex Sans" pitchFamily="34" charset="0"/>
                <a:ea typeface="IBM Plex Sans" pitchFamily="34" charset="-122"/>
                <a:cs typeface="IBM Plex Sans" pitchFamily="34" charset="-120"/>
              </a:rPr>
              <a:t>Servicios de archivos y de impresión</a:t>
            </a:r>
            <a:endParaRPr lang="en-US" sz="1400" dirty="0"/>
          </a:p>
        </p:txBody>
      </p:sp>
      <p:pic>
        <p:nvPicPr>
          <p:cNvPr id="10"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11" name="Text 7"/>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2"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Del Soto</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Evidencia del TP1</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IIS y ASP.NET funcionando desde la red</a:t>
            </a:r>
            <a:endParaRPr lang="en-US" sz="3200" dirty="0"/>
          </a:p>
        </p:txBody>
      </p:sp>
      <p:pic>
        <p:nvPicPr>
          <p:cNvPr id="4" name="Image 0" descr="Página de inicio de IIS abierta desde la PC anfitriona">    </p:cNvPr>
          <p:cNvPicPr>
            <a:picLocks noChangeAspect="1"/>
          </p:cNvPicPr>
          <p:nvPr/>
        </p:nvPicPr>
        <p:blipFill>
          <a:blip r:embed="rId1"/>
          <a:srcRect l="-192" r="-192" t="0" b="0"/>
          <a:stretch/>
        </p:blipFill>
        <p:spPr>
          <a:xfrm>
            <a:off x="825500" y="1826121"/>
            <a:ext cx="5708650" cy="3149600"/>
          </a:xfrm>
          <a:prstGeom prst="rect">
            <a:avLst/>
          </a:prstGeom>
        </p:spPr>
      </p:pic>
      <p:sp>
        <p:nvSpPr>
          <p:cNvPr id="5" name="Shape 2"/>
          <p:cNvSpPr/>
          <p:nvPr/>
        </p:nvSpPr>
        <p:spPr>
          <a:xfrm>
            <a:off x="819150" y="1819771"/>
            <a:ext cx="5721350" cy="3162300"/>
          </a:xfrm>
          <a:prstGeom prst="rect">
            <a:avLst/>
          </a:prstGeom>
          <a:noFill/>
          <a:ln w="12700">
            <a:solidFill>
              <a:srgbClr val="D1D5DB"/>
            </a:solidFill>
            <a:prstDash val="solid"/>
          </a:ln>
        </p:spPr>
      </p:sp>
      <p:sp>
        <p:nvSpPr>
          <p:cNvPr id="6" name="Text 3"/>
          <p:cNvSpPr/>
          <p:nvPr/>
        </p:nvSpPr>
        <p:spPr>
          <a:xfrm>
            <a:off x="1712362" y="5051921"/>
            <a:ext cx="393482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IIS accedido desde la PC en http://192.168.1.13 (CP28)</a:t>
            </a:r>
            <a:endParaRPr lang="en-US" sz="1200" dirty="0"/>
          </a:p>
        </p:txBody>
      </p:sp>
      <p:pic>
        <p:nvPicPr>
          <p:cNvPr id="7" name="Image 1" descr="Página test.aspx">    </p:cNvPr>
          <p:cNvPicPr>
            <a:picLocks noChangeAspect="1"/>
          </p:cNvPicPr>
          <p:nvPr/>
        </p:nvPicPr>
        <p:blipFill>
          <a:blip r:embed="rId2"/>
          <a:srcRect l="-1316" r="-1316" t="0" b="0"/>
          <a:stretch/>
        </p:blipFill>
        <p:spPr>
          <a:xfrm>
            <a:off x="6854825" y="1826121"/>
            <a:ext cx="4419600" cy="736600"/>
          </a:xfrm>
          <a:prstGeom prst="rect">
            <a:avLst/>
          </a:prstGeom>
        </p:spPr>
      </p:pic>
      <p:sp>
        <p:nvSpPr>
          <p:cNvPr id="8" name="Shape 4"/>
          <p:cNvSpPr/>
          <p:nvPr/>
        </p:nvSpPr>
        <p:spPr>
          <a:xfrm>
            <a:off x="6848475" y="1819771"/>
            <a:ext cx="4432300" cy="749300"/>
          </a:xfrm>
          <a:prstGeom prst="rect">
            <a:avLst/>
          </a:prstGeom>
          <a:noFill/>
          <a:ln w="12700">
            <a:solidFill>
              <a:srgbClr val="D1D5DB"/>
            </a:solidFill>
            <a:prstDash val="solid"/>
          </a:ln>
        </p:spPr>
      </p:sp>
      <p:sp>
        <p:nvSpPr>
          <p:cNvPr id="9" name="Text 5"/>
          <p:cNvSpPr/>
          <p:nvPr/>
        </p:nvSpPr>
        <p:spPr>
          <a:xfrm>
            <a:off x="7786059" y="2638921"/>
            <a:ext cx="255713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test.aspx: ASP.NET operativo (CP19)</a:t>
            </a:r>
            <a:endParaRPr lang="en-US" sz="1200" dirty="0"/>
          </a:p>
        </p:txBody>
      </p:sp>
      <p:sp>
        <p:nvSpPr>
          <p:cNvPr id="10" name="Shape 6"/>
          <p:cNvSpPr/>
          <p:nvPr/>
        </p:nvSpPr>
        <p:spPr>
          <a:xfrm>
            <a:off x="6756400" y="3010991"/>
            <a:ext cx="4616450" cy="2824659"/>
          </a:xfrm>
          <a:prstGeom prst="roundRect">
            <a:avLst>
              <a:gd name="adj" fmla="val 3372"/>
            </a:avLst>
          </a:prstGeom>
          <a:solidFill>
            <a:srgbClr val="FFFFFF"/>
          </a:solidFill>
          <a:ln w="12700">
            <a:solidFill>
              <a:srgbClr val="D1D5DB"/>
            </a:solidFill>
            <a:prstDash val="solid"/>
          </a:ln>
        </p:spPr>
      </p:sp>
      <p:sp>
        <p:nvSpPr>
          <p:cNvPr id="11" name="Text 7"/>
          <p:cNvSpPr/>
          <p:nvPr/>
        </p:nvSpPr>
        <p:spPr>
          <a:xfrm>
            <a:off x="6991350" y="3245941"/>
            <a:ext cx="427094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Qué demuestra</a:t>
            </a:r>
            <a:endParaRPr lang="en-US" sz="1700" dirty="0"/>
          </a:p>
        </p:txBody>
      </p:sp>
      <p:sp>
        <p:nvSpPr>
          <p:cNvPr id="12" name="Text 8"/>
          <p:cNvSpPr/>
          <p:nvPr/>
        </p:nvSpPr>
        <p:spPr>
          <a:xfrm>
            <a:off x="6991350" y="3593902"/>
            <a:ext cx="4270947" cy="718641"/>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El rol IIS responde a otros equipos</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ASP.NET ejecuta código del servidor</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La VM es alcanzable por red</a:t>
            </a:r>
            <a:endParaRPr lang="en-US" sz="1300" dirty="0"/>
          </a:p>
        </p:txBody>
      </p:sp>
      <p:pic>
        <p:nvPicPr>
          <p:cNvPr id="13" name="Image 2" descr="UTN Facultad Regional Córdoba">    </p:cNvPr>
          <p:cNvPicPr>
            <a:picLocks noChangeAspect="1"/>
          </p:cNvPicPr>
          <p:nvPr/>
        </p:nvPicPr>
        <p:blipFill>
          <a:blip r:embed="rId3"/>
          <a:srcRect l="-216" r="-216" t="0" b="0"/>
          <a:stretch/>
        </p:blipFill>
        <p:spPr>
          <a:xfrm>
            <a:off x="10248900" y="190500"/>
            <a:ext cx="1130300" cy="444500"/>
          </a:xfrm>
          <a:prstGeom prst="rect">
            <a:avLst/>
          </a:prstGeom>
        </p:spPr>
      </p:pic>
      <p:sp>
        <p:nvSpPr>
          <p:cNvPr id="14" name="Text 9"/>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5"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Del Soto</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Defensa del TP2</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Ubuntu Server 26.04.1 LTS en VMware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13421"/>
          <a:ext cx="4902200" cy="2874169"/>
        </p:xfrm>
        <a:graphic>
          <a:graphicData uri="http://schemas.openxmlformats.org/drawingml/2006/table">
            <a:tbl>
              <a:tblPr/>
              <a:tblGrid>
                <a:gridCol w="1666748"/>
                <a:gridCol w="3235452"/>
              </a:tblGrid>
              <a:tr h="359271">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Parámetro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Valor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Hipervisor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VMware Workstation 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Sistema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Ubuntu Server 26.04.1 LTS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Memoria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4 GB (mínimo pedido: 4 GB)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Disco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40 GB, / ampliado a 38 GB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Bridged · 192.168.1.14/24 (DHCP)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Nombre / usuario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srv-ubuntu01 · emi (sudo)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Hora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America/Argentina/Cordoba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bl>
          </a:graphicData>
        </a:graphic>
      </p:graphicFrame>
      <p:pic>
        <p:nvPicPr>
          <p:cNvPr id="5" name="Image 0" descr="Primer inicio de sesión en la consola de Ubuntu Server">    </p:cNvPr>
          <p:cNvPicPr>
            <a:picLocks noChangeAspect="1"/>
          </p:cNvPicPr>
          <p:nvPr/>
        </p:nvPicPr>
        <p:blipFill>
          <a:blip r:embed="rId1"/>
          <a:srcRect l="-111" r="-111" t="0" b="0"/>
          <a:stretch/>
        </p:blipFill>
        <p:spPr>
          <a:xfrm>
            <a:off x="5930900" y="1826121"/>
            <a:ext cx="5435600" cy="3429000"/>
          </a:xfrm>
          <a:prstGeom prst="rect">
            <a:avLst/>
          </a:prstGeom>
        </p:spPr>
      </p:pic>
      <p:sp>
        <p:nvSpPr>
          <p:cNvPr id="6" name="Shape 2"/>
          <p:cNvSpPr/>
          <p:nvPr/>
        </p:nvSpPr>
        <p:spPr>
          <a:xfrm>
            <a:off x="5924550" y="1819771"/>
            <a:ext cx="5448300" cy="3441700"/>
          </a:xfrm>
          <a:prstGeom prst="rect">
            <a:avLst/>
          </a:prstGeom>
          <a:noFill/>
          <a:ln w="12700">
            <a:solidFill>
              <a:srgbClr val="D1D5DB"/>
            </a:solidFill>
            <a:prstDash val="solid"/>
          </a:ln>
        </p:spPr>
      </p:sp>
      <p:sp>
        <p:nvSpPr>
          <p:cNvPr id="7" name="Text 3"/>
          <p:cNvSpPr/>
          <p:nvPr/>
        </p:nvSpPr>
        <p:spPr>
          <a:xfrm>
            <a:off x="6941630" y="5331321"/>
            <a:ext cx="341414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Primer login: versión, uso de / e IP (informe TP2)</a:t>
            </a:r>
            <a:endParaRPr lang="en-US" sz="1200" dirty="0"/>
          </a:p>
        </p:txBody>
      </p:sp>
      <p:pic>
        <p:nvPicPr>
          <p:cNvPr id="8"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9" name="Text 4"/>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0"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Del Soto</a:t>
            </a:r>
            <a:endParaRPr lang="en-US" sz="1200" dirty="0"/>
          </a:p>
        </p:txBody>
      </p:sp>
      <p:sp>
        <p:nvSpPr>
          <p:cNvPr id="11"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Evidencia del TP2</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Partición: usar los 40 GB con LVM</a:t>
            </a:r>
            <a:endParaRPr lang="en-US" sz="3200" dirty="0"/>
          </a:p>
        </p:txBody>
      </p:sp>
      <p:sp>
        <p:nvSpPr>
          <p:cNvPr id="4" name="Shape 2"/>
          <p:cNvSpPr/>
          <p:nvPr/>
        </p:nvSpPr>
        <p:spPr>
          <a:xfrm>
            <a:off x="819150" y="1819771"/>
            <a:ext cx="4127500" cy="3530104"/>
          </a:xfrm>
          <a:prstGeom prst="roundRect">
            <a:avLst>
              <a:gd name="adj" fmla="val 2698"/>
            </a:avLst>
          </a:prstGeom>
          <a:solidFill>
            <a:srgbClr val="F3F4F6"/>
          </a:solidFill>
          <a:ln w="12700">
            <a:solidFill>
              <a:srgbClr val="D1D5DB"/>
            </a:solidFill>
            <a:prstDash val="solid"/>
          </a:ln>
        </p:spPr>
      </p:sp>
      <p:sp>
        <p:nvSpPr>
          <p:cNvPr id="5" name="Text 3"/>
          <p:cNvSpPr/>
          <p:nvPr/>
        </p:nvSpPr>
        <p:spPr>
          <a:xfrm>
            <a:off x="1028700" y="2891532"/>
            <a:ext cx="3819652" cy="256480"/>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1F2937"/>
                </a:solidFill>
                <a:latin typeface="JetBrains Mono" pitchFamily="34" charset="0"/>
                <a:ea typeface="JetBrains Mono" pitchFamily="34" charset="-122"/>
                <a:cs typeface="JetBrains Mono" pitchFamily="34" charset="-120"/>
              </a:rPr>
              <a:t>$ lsblk</a:t>
            </a:r>
            <a:endParaRPr lang="en-US" sz="1300" dirty="0"/>
          </a:p>
        </p:txBody>
      </p:sp>
      <p:sp>
        <p:nvSpPr>
          <p:cNvPr id="6" name="Text 4"/>
          <p:cNvSpPr/>
          <p:nvPr/>
        </p:nvSpPr>
        <p:spPr>
          <a:xfrm>
            <a:off x="1028700" y="3122613"/>
            <a:ext cx="3819652" cy="256480"/>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1F2937"/>
                </a:solidFill>
                <a:latin typeface="JetBrains Mono" pitchFamily="34" charset="0"/>
                <a:ea typeface="JetBrains Mono" pitchFamily="34" charset="-122"/>
                <a:cs typeface="JetBrains Mono" pitchFamily="34" charset="-120"/>
              </a:rPr>
              <a:t>$ sudo lvextend -l +100%FREE \</a:t>
            </a:r>
            <a:endParaRPr lang="en-US" sz="1300" dirty="0"/>
          </a:p>
        </p:txBody>
      </p:sp>
      <p:sp>
        <p:nvSpPr>
          <p:cNvPr id="7" name="Text 5"/>
          <p:cNvSpPr/>
          <p:nvPr/>
        </p:nvSpPr>
        <p:spPr>
          <a:xfrm>
            <a:off x="1028700" y="3353693"/>
            <a:ext cx="3819652" cy="256480"/>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1F2937"/>
                </a:solidFill>
                <a:latin typeface="JetBrains Mono" pitchFamily="34" charset="0"/>
                <a:ea typeface="JetBrains Mono" pitchFamily="34" charset="-122"/>
                <a:cs typeface="JetBrains Mono" pitchFamily="34" charset="-120"/>
              </a:rPr>
              <a:t>    /dev/ubuntu-vg/ubuntu-lv</a:t>
            </a:r>
            <a:endParaRPr lang="en-US" sz="1300" dirty="0"/>
          </a:p>
        </p:txBody>
      </p:sp>
      <p:sp>
        <p:nvSpPr>
          <p:cNvPr id="8" name="Text 6"/>
          <p:cNvSpPr/>
          <p:nvPr/>
        </p:nvSpPr>
        <p:spPr>
          <a:xfrm>
            <a:off x="1028700" y="3584773"/>
            <a:ext cx="3819652" cy="256480"/>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1F2937"/>
                </a:solidFill>
                <a:latin typeface="JetBrains Mono" pitchFamily="34" charset="0"/>
                <a:ea typeface="JetBrains Mono" pitchFamily="34" charset="-122"/>
                <a:cs typeface="JetBrains Mono" pitchFamily="34" charset="-120"/>
              </a:rPr>
              <a:t>$ sudo resize2fs \</a:t>
            </a:r>
            <a:endParaRPr lang="en-US" sz="1300" dirty="0"/>
          </a:p>
        </p:txBody>
      </p:sp>
      <p:sp>
        <p:nvSpPr>
          <p:cNvPr id="9" name="Text 7"/>
          <p:cNvSpPr/>
          <p:nvPr/>
        </p:nvSpPr>
        <p:spPr>
          <a:xfrm>
            <a:off x="1028700" y="3815854"/>
            <a:ext cx="3819652" cy="256480"/>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1F2937"/>
                </a:solidFill>
                <a:latin typeface="JetBrains Mono" pitchFamily="34" charset="0"/>
                <a:ea typeface="JetBrains Mono" pitchFamily="34" charset="-122"/>
                <a:cs typeface="JetBrains Mono" pitchFamily="34" charset="-120"/>
              </a:rPr>
              <a:t>    /dev/ubuntu-vg/ubuntu-lv</a:t>
            </a:r>
            <a:endParaRPr lang="en-US" sz="1300" dirty="0"/>
          </a:p>
        </p:txBody>
      </p:sp>
      <p:sp>
        <p:nvSpPr>
          <p:cNvPr id="10" name="Text 8"/>
          <p:cNvSpPr/>
          <p:nvPr/>
        </p:nvSpPr>
        <p:spPr>
          <a:xfrm>
            <a:off x="1028700" y="4046934"/>
            <a:ext cx="3819652" cy="256480"/>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1F2937"/>
                </a:solidFill>
                <a:latin typeface="JetBrains Mono" pitchFamily="34" charset="0"/>
                <a:ea typeface="JetBrains Mono" pitchFamily="34" charset="-122"/>
                <a:cs typeface="JetBrains Mono" pitchFamily="34" charset="-120"/>
              </a:rPr>
              <a:t>$ df -h /</a:t>
            </a:r>
            <a:endParaRPr lang="en-US" sz="1300" dirty="0"/>
          </a:p>
        </p:txBody>
      </p:sp>
      <p:pic>
        <p:nvPicPr>
          <p:cNvPr id="11" name="Image 0" descr="lvextend, resize2fs y df -h en Ubuntu Server">    </p:cNvPr>
          <p:cNvPicPr>
            <a:picLocks noChangeAspect="1"/>
          </p:cNvPicPr>
          <p:nvPr/>
        </p:nvPicPr>
        <p:blipFill>
          <a:blip r:embed="rId1"/>
          <a:srcRect l="-3689" r="-3689" t="0" b="0"/>
          <a:stretch/>
        </p:blipFill>
        <p:spPr>
          <a:xfrm>
            <a:off x="5168900" y="1826121"/>
            <a:ext cx="6197600" cy="3254375"/>
          </a:xfrm>
          <a:prstGeom prst="rect">
            <a:avLst/>
          </a:prstGeom>
        </p:spPr>
      </p:pic>
      <p:sp>
        <p:nvSpPr>
          <p:cNvPr id="12" name="Shape 9"/>
          <p:cNvSpPr/>
          <p:nvPr/>
        </p:nvSpPr>
        <p:spPr>
          <a:xfrm>
            <a:off x="5162550" y="1819771"/>
            <a:ext cx="6210300" cy="3267075"/>
          </a:xfrm>
          <a:prstGeom prst="rect">
            <a:avLst/>
          </a:prstGeom>
          <a:noFill/>
          <a:ln w="12700">
            <a:solidFill>
              <a:srgbClr val="D1D5DB"/>
            </a:solidFill>
            <a:prstDash val="solid"/>
          </a:ln>
        </p:spPr>
      </p:sp>
      <p:sp>
        <p:nvSpPr>
          <p:cNvPr id="13" name="Text 10"/>
          <p:cNvSpPr/>
          <p:nvPr/>
        </p:nvSpPr>
        <p:spPr>
          <a:xfrm>
            <a:off x="6721178" y="5156696"/>
            <a:ext cx="3093043" cy="224929"/>
          </a:xfrm>
          <a:prstGeom prst="rect">
            <a:avLst/>
          </a:prstGeom>
          <a:noFill/>
          <a:ln/>
        </p:spPr>
        <p:txBody>
          <a:bodyPr wrap="square" lIns="0" tIns="0" rIns="0" bIns="0" rtlCol="0" anchor="t">
            <a:normAutofit/>
          </a:bodyPr>
          <a:lstStyle/>
          <a:p>
            <a:pPr algn="ctr" indent="0" marL="0">
              <a:lnSpc>
                <a:spcPts val="1570"/>
              </a:lnSpc>
              <a:buNone/>
            </a:pPr>
            <a:r>
              <a:rPr lang="en-US" sz="1121" dirty="0">
                <a:solidFill>
                  <a:srgbClr val="6B7280"/>
                </a:solidFill>
                <a:latin typeface="IBM Plex Sans" pitchFamily="34" charset="0"/>
                <a:ea typeface="IBM Plex Sans" pitchFamily="34" charset="-122"/>
                <a:cs typeface="IBM Plex Sans" pitchFamily="34" charset="-120"/>
              </a:rPr>
              <a:t>/ pasa de 19 GB a 38 GB, en línea y sin reiniciar</a:t>
            </a:r>
            <a:endParaRPr lang="en-US" sz="1121" dirty="0"/>
          </a:p>
        </p:txBody>
      </p:sp>
      <p:sp>
        <p:nvSpPr>
          <p:cNvPr id="14" name="Text 11"/>
          <p:cNvSpPr/>
          <p:nvPr/>
        </p:nvSpPr>
        <p:spPr>
          <a:xfrm>
            <a:off x="812800" y="5584825"/>
            <a:ext cx="1088339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937"/>
                </a:solidFill>
                <a:latin typeface="IBM Plex Sans" pitchFamily="34" charset="0"/>
                <a:ea typeface="IBM Plex Sans" pitchFamily="34" charset="-122"/>
                <a:cs typeface="IBM Plex Sans" pitchFamily="34" charset="-120"/>
              </a:rPr>
              <a:t>Detalle:</a:t>
            </a:r>
            <a:r>
              <a:rPr lang="en-US" sz="1500" dirty="0">
                <a:solidFill>
                  <a:srgbClr val="1F2937"/>
                </a:solidFill>
                <a:latin typeface="IBM Plex Sans" pitchFamily="34" charset="0"/>
                <a:ea typeface="IBM Plex Sans" pitchFamily="34" charset="-122"/>
                <a:cs typeface="IBM Plex Sans" pitchFamily="34" charset="-120"/>
              </a:rPr>
              <a:t> el instalador deja el volumen raíz con la mitad del espacio; se lo extendió para usar todo el disco asignado.</a:t>
            </a:r>
            <a:endParaRPr lang="en-US" sz="1500" dirty="0"/>
          </a:p>
        </p:txBody>
      </p:sp>
      <p:pic>
        <p:nvPicPr>
          <p:cNvPr id="15"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16" name="Text 12"/>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7" name="Text 1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Del Soto</a:t>
            </a:r>
            <a:endParaRPr lang="en-US" sz="1200" dirty="0"/>
          </a:p>
        </p:txBody>
      </p:sp>
      <p:sp>
        <p:nvSpPr>
          <p:cNvPr id="18"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Evidencia del TP2</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Red, hora y conectividad</a:t>
            </a:r>
            <a:endParaRPr lang="en-US" sz="3200" dirty="0"/>
          </a:p>
        </p:txBody>
      </p:sp>
      <p:pic>
        <p:nvPicPr>
          <p:cNvPr id="4" name="Image 0" descr="ip a y ping a 8.8.8.8 desde la VM">    </p:cNvPr>
          <p:cNvPicPr>
            <a:picLocks noChangeAspect="1"/>
          </p:cNvPicPr>
          <p:nvPr/>
        </p:nvPicPr>
        <p:blipFill>
          <a:blip r:embed="rId1"/>
          <a:srcRect l="-124" r="-124" t="0" b="0"/>
          <a:stretch/>
        </p:blipFill>
        <p:spPr>
          <a:xfrm>
            <a:off x="825500" y="1826121"/>
            <a:ext cx="3784600" cy="2863850"/>
          </a:xfrm>
          <a:prstGeom prst="rect">
            <a:avLst/>
          </a:prstGeom>
        </p:spPr>
      </p:pic>
      <p:sp>
        <p:nvSpPr>
          <p:cNvPr id="5" name="Shape 2"/>
          <p:cNvSpPr/>
          <p:nvPr/>
        </p:nvSpPr>
        <p:spPr>
          <a:xfrm>
            <a:off x="819150" y="1819771"/>
            <a:ext cx="3797300" cy="2876550"/>
          </a:xfrm>
          <a:prstGeom prst="rect">
            <a:avLst/>
          </a:prstGeom>
          <a:noFill/>
          <a:ln w="12700">
            <a:solidFill>
              <a:srgbClr val="D1D5DB"/>
            </a:solidFill>
            <a:prstDash val="solid"/>
          </a:ln>
        </p:spPr>
      </p:sp>
      <p:sp>
        <p:nvSpPr>
          <p:cNvPr id="6" name="Text 3"/>
          <p:cNvSpPr/>
          <p:nvPr/>
        </p:nvSpPr>
        <p:spPr>
          <a:xfrm>
            <a:off x="793769" y="4766171"/>
            <a:ext cx="384806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ip a (192.168.1.14/24) y ping a 8.8.8.8: 0% de pérdida</a:t>
            </a:r>
            <a:endParaRPr lang="en-US" sz="1200" dirty="0"/>
          </a:p>
        </p:txBody>
      </p:sp>
      <p:pic>
        <p:nvPicPr>
          <p:cNvPr id="7" name="Image 1" descr="timedatectl antes y después">    </p:cNvPr>
          <p:cNvPicPr>
            <a:picLocks noChangeAspect="1"/>
          </p:cNvPicPr>
          <p:nvPr/>
        </p:nvPicPr>
        <p:blipFill>
          <a:blip r:embed="rId2"/>
          <a:srcRect l="-166" r="-166" t="0" b="0"/>
          <a:stretch/>
        </p:blipFill>
        <p:spPr>
          <a:xfrm>
            <a:off x="4787900" y="1826121"/>
            <a:ext cx="4927600" cy="2698750"/>
          </a:xfrm>
          <a:prstGeom prst="rect">
            <a:avLst/>
          </a:prstGeom>
        </p:spPr>
      </p:pic>
      <p:sp>
        <p:nvSpPr>
          <p:cNvPr id="8" name="Shape 4"/>
          <p:cNvSpPr/>
          <p:nvPr/>
        </p:nvSpPr>
        <p:spPr>
          <a:xfrm>
            <a:off x="4781550" y="1819771"/>
            <a:ext cx="4940300" cy="2711450"/>
          </a:xfrm>
          <a:prstGeom prst="rect">
            <a:avLst/>
          </a:prstGeom>
          <a:noFill/>
          <a:ln w="12700">
            <a:solidFill>
              <a:srgbClr val="D1D5DB"/>
            </a:solidFill>
            <a:prstDash val="solid"/>
          </a:ln>
        </p:spPr>
      </p:sp>
      <p:sp>
        <p:nvSpPr>
          <p:cNvPr id="9" name="Text 5"/>
          <p:cNvSpPr/>
          <p:nvPr/>
        </p:nvSpPr>
        <p:spPr>
          <a:xfrm>
            <a:off x="5447648" y="4601071"/>
            <a:ext cx="36080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Zona horaria: de UTC a America/Argentina/Cordoba</a:t>
            </a:r>
            <a:endParaRPr lang="en-US" sz="1200" dirty="0"/>
          </a:p>
        </p:txBody>
      </p:sp>
      <p:pic>
        <p:nvPicPr>
          <p:cNvPr id="10" name="Image 2" descr="Ping desde la PC a la VM">    </p:cNvPr>
          <p:cNvPicPr>
            <a:picLocks noChangeAspect="1"/>
          </p:cNvPicPr>
          <p:nvPr/>
        </p:nvPicPr>
        <p:blipFill>
          <a:blip r:embed="rId3"/>
          <a:srcRect l="-620" r="-620" t="0" b="0"/>
          <a:stretch/>
        </p:blipFill>
        <p:spPr>
          <a:xfrm>
            <a:off x="8864600" y="1826121"/>
            <a:ext cx="3530600" cy="1193800"/>
          </a:xfrm>
          <a:prstGeom prst="rect">
            <a:avLst/>
          </a:prstGeom>
        </p:spPr>
      </p:pic>
      <p:sp>
        <p:nvSpPr>
          <p:cNvPr id="11" name="Shape 6"/>
          <p:cNvSpPr/>
          <p:nvPr/>
        </p:nvSpPr>
        <p:spPr>
          <a:xfrm>
            <a:off x="8858250" y="1819771"/>
            <a:ext cx="3543300" cy="1206500"/>
          </a:xfrm>
          <a:prstGeom prst="rect">
            <a:avLst/>
          </a:prstGeom>
          <a:noFill/>
          <a:ln w="12700">
            <a:solidFill>
              <a:srgbClr val="D1D5DB"/>
            </a:solidFill>
            <a:prstDash val="solid"/>
          </a:ln>
        </p:spPr>
      </p:sp>
      <p:sp>
        <p:nvSpPr>
          <p:cNvPr id="12" name="Text 7"/>
          <p:cNvSpPr/>
          <p:nvPr/>
        </p:nvSpPr>
        <p:spPr>
          <a:xfrm>
            <a:off x="9855200" y="3096121"/>
            <a:ext cx="15494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Ping PC a VM: 0% de pérdida</a:t>
            </a:r>
            <a:endParaRPr lang="en-US" sz="1200" dirty="0"/>
          </a:p>
        </p:txBody>
      </p:sp>
      <p:sp>
        <p:nvSpPr>
          <p:cNvPr id="13" name="Text 8"/>
          <p:cNvSpPr/>
          <p:nvPr/>
        </p:nvSpPr>
        <p:spPr>
          <a:xfrm>
            <a:off x="812800" y="5327650"/>
            <a:ext cx="10883392"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937"/>
                </a:solidFill>
                <a:latin typeface="IBM Plex Sans" pitchFamily="34" charset="0"/>
                <a:ea typeface="IBM Plex Sans" pitchFamily="34" charset="-122"/>
                <a:cs typeface="IBM Plex Sans" pitchFamily="34" charset="-120"/>
              </a:rPr>
              <a:t>Problemas resueltos:</a:t>
            </a:r>
            <a:r>
              <a:rPr lang="en-US" sz="1500" dirty="0">
                <a:solidFill>
                  <a:srgbClr val="1F2937"/>
                </a:solidFill>
                <a:latin typeface="IBM Plex Sans" pitchFamily="34" charset="0"/>
                <a:ea typeface="IBM Plex Sans" pitchFamily="34" charset="-122"/>
                <a:cs typeface="IBM Plex Sans" pitchFamily="34" charset="-120"/>
              </a:rPr>
              <a:t> teclado distinto en la consola (se usó SSH desde la PC) y ping a google.com por IPv6 sin respuesta (con IPv4 funciona).</a:t>
            </a:r>
            <a:endParaRPr lang="en-US" sz="1500" dirty="0"/>
          </a:p>
        </p:txBody>
      </p:sp>
      <p:pic>
        <p:nvPicPr>
          <p:cNvPr id="14" name="Image 3" descr="UTN Facultad Regional Córdoba">    </p:cNvPr>
          <p:cNvPicPr>
            <a:picLocks noChangeAspect="1"/>
          </p:cNvPicPr>
          <p:nvPr/>
        </p:nvPicPr>
        <p:blipFill>
          <a:blip r:embed="rId4"/>
          <a:srcRect l="-216" r="-216" t="0" b="0"/>
          <a:stretch/>
        </p:blipFill>
        <p:spPr>
          <a:xfrm>
            <a:off x="10248900" y="190500"/>
            <a:ext cx="1130300" cy="444500"/>
          </a:xfrm>
          <a:prstGeom prst="rect">
            <a:avLst/>
          </a:prstGeom>
        </p:spPr>
      </p:pic>
      <p:sp>
        <p:nvSpPr>
          <p:cNvPr id="15" name="Text 9"/>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6"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Del Soto</a:t>
            </a:r>
            <a:endParaRPr lang="en-US" sz="1200" dirty="0"/>
          </a:p>
        </p:txBody>
      </p:sp>
      <p:sp>
        <p:nvSpPr>
          <p:cNvPr id="17"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Defensa del TP2</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Ubuntu Server y la línea de comandos</a:t>
            </a:r>
            <a:endParaRPr lang="en-US" sz="3200" dirty="0"/>
          </a:p>
        </p:txBody>
      </p:sp>
      <p:pic>
        <p:nvPicPr>
          <p:cNvPr id="4" name="Image 0" descr="Conexión SSH desde la PC a la VM">    </p:cNvPr>
          <p:cNvPicPr>
            <a:picLocks noChangeAspect="1"/>
          </p:cNvPicPr>
          <p:nvPr/>
        </p:nvPicPr>
        <p:blipFill>
          <a:blip r:embed="rId1"/>
          <a:srcRect l="-142" r="-142" t="0" b="0"/>
          <a:stretch/>
        </p:blipFill>
        <p:spPr>
          <a:xfrm>
            <a:off x="825500" y="1826121"/>
            <a:ext cx="4546600" cy="2901950"/>
          </a:xfrm>
          <a:prstGeom prst="rect">
            <a:avLst/>
          </a:prstGeom>
        </p:spPr>
      </p:pic>
      <p:sp>
        <p:nvSpPr>
          <p:cNvPr id="5" name="Shape 2"/>
          <p:cNvSpPr/>
          <p:nvPr/>
        </p:nvSpPr>
        <p:spPr>
          <a:xfrm>
            <a:off x="819150" y="1819771"/>
            <a:ext cx="4559300" cy="2914650"/>
          </a:xfrm>
          <a:prstGeom prst="rect">
            <a:avLst/>
          </a:prstGeom>
          <a:noFill/>
          <a:ln w="12700">
            <a:solidFill>
              <a:srgbClr val="D1D5DB"/>
            </a:solidFill>
            <a:prstDash val="solid"/>
          </a:ln>
        </p:spPr>
      </p:sp>
      <p:sp>
        <p:nvSpPr>
          <p:cNvPr id="6" name="Text 3"/>
          <p:cNvSpPr/>
          <p:nvPr/>
        </p:nvSpPr>
        <p:spPr>
          <a:xfrm>
            <a:off x="1483094" y="4804271"/>
            <a:ext cx="323131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SSH desde la PC anfitrión: emi@srv-ubuntu01</a:t>
            </a:r>
            <a:endParaRPr lang="en-US" sz="1200" dirty="0"/>
          </a:p>
        </p:txBody>
      </p:sp>
      <p:sp>
        <p:nvSpPr>
          <p:cNvPr id="7" name="Shape 4"/>
          <p:cNvSpPr/>
          <p:nvPr/>
        </p:nvSpPr>
        <p:spPr>
          <a:xfrm>
            <a:off x="5594350" y="1819771"/>
            <a:ext cx="5778500" cy="4015879"/>
          </a:xfrm>
          <a:prstGeom prst="roundRect">
            <a:avLst>
              <a:gd name="adj" fmla="val 2372"/>
            </a:avLst>
          </a:prstGeom>
          <a:solidFill>
            <a:srgbClr val="FFFFFF"/>
          </a:solidFill>
          <a:ln w="12700">
            <a:solidFill>
              <a:srgbClr val="D1D5DB"/>
            </a:solidFill>
            <a:prstDash val="solid"/>
          </a:ln>
        </p:spPr>
      </p:sp>
      <p:sp>
        <p:nvSpPr>
          <p:cNvPr id="8" name="Text 5"/>
          <p:cNvSpPr/>
          <p:nvPr/>
        </p:nvSpPr>
        <p:spPr>
          <a:xfrm>
            <a:off x="5829300" y="2054721"/>
            <a:ext cx="5467858"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¿Por qué CLI?</a:t>
            </a:r>
            <a:endParaRPr lang="en-US" sz="1900" dirty="0"/>
          </a:p>
        </p:txBody>
      </p:sp>
      <p:sp>
        <p:nvSpPr>
          <p:cNvPr id="9" name="Text 6"/>
          <p:cNvSpPr/>
          <p:nvPr/>
        </p:nvSpPr>
        <p:spPr>
          <a:xfrm>
            <a:off x="5829300" y="2433141"/>
            <a:ext cx="5467858" cy="1020763"/>
          </a:xfrm>
          <a:prstGeom prst="rect">
            <a:avLst/>
          </a:prstGeom>
          <a:noFill/>
          <a:ln/>
        </p:spPr>
        <p:txBody>
          <a:bodyPr wrap="square" lIns="0" tIns="0" rIns="0" bIns="0" rtlCol="0" anchor="t">
            <a:normAutofit/>
          </a:bodyPr>
          <a:lstStyle/>
          <a:p>
            <a:pPr algn="l" marL="342900" indent="-342900">
              <a:lnSpc>
                <a:spcPts val="1960"/>
              </a:lnSpc>
              <a:buSzPct val="100000"/>
              <a:buChar char="•"/>
            </a:pPr>
            <a:r>
              <a:rPr lang="en-US" sz="1400" dirty="0">
                <a:solidFill>
                  <a:srgbClr val="4B5563"/>
                </a:solidFill>
                <a:latin typeface="IBM Plex Sans" pitchFamily="34" charset="0"/>
                <a:ea typeface="IBM Plex Sans" pitchFamily="34" charset="-122"/>
                <a:cs typeface="IBM Plex Sans" pitchFamily="34" charset="-120"/>
              </a:rPr>
              <a:t>Menos RAM y disco: sin interfaz gráfica</a:t>
            </a:r>
            <a:endParaRPr lang="en-US" sz="1400" dirty="0"/>
          </a:p>
          <a:p>
            <a:pPr algn="l" marL="342900" indent="-342900">
              <a:lnSpc>
                <a:spcPts val="1960"/>
              </a:lnSpc>
              <a:buSzPct val="100000"/>
              <a:buChar char="•"/>
            </a:pPr>
            <a:r>
              <a:rPr lang="en-US" sz="1400" dirty="0">
                <a:solidFill>
                  <a:srgbClr val="4B5563"/>
                </a:solidFill>
                <a:latin typeface="IBM Plex Sans" pitchFamily="34" charset="0"/>
                <a:ea typeface="IBM Plex Sans" pitchFamily="34" charset="-122"/>
                <a:cs typeface="IBM Plex Sans" pitchFamily="34" charset="-120"/>
              </a:rPr>
              <a:t>Menor superficie de ataque</a:t>
            </a:r>
            <a:endParaRPr lang="en-US" sz="1400" dirty="0"/>
          </a:p>
          <a:p>
            <a:pPr algn="l" marL="342900" indent="-342900">
              <a:lnSpc>
                <a:spcPts val="1960"/>
              </a:lnSpc>
              <a:buSzPct val="100000"/>
              <a:buChar char="•"/>
            </a:pPr>
            <a:r>
              <a:rPr lang="en-US" sz="1400" dirty="0">
                <a:solidFill>
                  <a:srgbClr val="4B5563"/>
                </a:solidFill>
                <a:latin typeface="IBM Plex Sans" pitchFamily="34" charset="0"/>
                <a:ea typeface="IBM Plex Sans" pitchFamily="34" charset="-122"/>
                <a:cs typeface="IBM Plex Sans" pitchFamily="34" charset="-120"/>
              </a:rPr>
              <a:t>Administración remota por SSH y scripts</a:t>
            </a:r>
            <a:endParaRPr lang="en-US" sz="1400" dirty="0"/>
          </a:p>
          <a:p>
            <a:pPr algn="l" marL="342900" indent="-342900">
              <a:lnSpc>
                <a:spcPts val="1960"/>
              </a:lnSpc>
              <a:buSzPct val="100000"/>
              <a:buChar char="•"/>
            </a:pPr>
            <a:r>
              <a:rPr lang="en-US" sz="1400" dirty="0">
                <a:solidFill>
                  <a:srgbClr val="4B5563"/>
                </a:solidFill>
                <a:latin typeface="IBM Plex Sans" pitchFamily="34" charset="0"/>
                <a:ea typeface="IBM Plex Sans" pitchFamily="34" charset="-122"/>
                <a:cs typeface="IBM Plex Sans" pitchFamily="34" charset="-120"/>
              </a:rPr>
              <a:t>Es lo habitual en servidores y equipos de borde</a:t>
            </a:r>
            <a:endParaRPr lang="en-US" sz="1400" dirty="0"/>
          </a:p>
        </p:txBody>
      </p:sp>
      <p:pic>
        <p:nvPicPr>
          <p:cNvPr id="10"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11" name="Text 7"/>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2"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Del Soto</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1 · Defensa del TP2</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Red en modo Bridged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13421"/>
          <a:ext cx="10566400" cy="1792684"/>
        </p:xfrm>
        <a:graphic>
          <a:graphicData uri="http://schemas.openxmlformats.org/drawingml/2006/table">
            <a:tbl>
              <a:tblPr/>
              <a:tblGrid>
                <a:gridCol w="1690624"/>
                <a:gridCol w="2535936"/>
                <a:gridCol w="2535936"/>
                <a:gridCol w="3803904"/>
              </a:tblGrid>
              <a:tr h="634802">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Modo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IP de la VM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Otros equipos de la red la ven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Uso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Bridged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De la red local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Servidor accesible por HMI, PLC y clientes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NAT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Privada, detrás del host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Salida a Internet sin exponer la VM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Host-only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Solo con el host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Pruebas aisladas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3847405"/>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F2937"/>
                </a:solidFill>
                <a:latin typeface="IBM Plex Sans" pitchFamily="34" charset="0"/>
                <a:ea typeface="IBM Plex Sans" pitchFamily="34" charset="-122"/>
                <a:cs typeface="IBM Plex Sans" pitchFamily="34" charset="-120"/>
              </a:rPr>
              <a:t>Bridged:</a:t>
            </a:r>
            <a:r>
              <a:rPr lang="en-US" sz="1800" dirty="0">
                <a:solidFill>
                  <a:srgbClr val="1F2937"/>
                </a:solidFill>
                <a:latin typeface="IBM Plex Sans" pitchFamily="34" charset="0"/>
                <a:ea typeface="IBM Plex Sans" pitchFamily="34" charset="-122"/>
                <a:cs typeface="IBM Plex Sans" pitchFamily="34" charset="-120"/>
              </a:rPr>
              <a:t> la VM es un equipo más de la red local, con su propia IP.</a:t>
            </a:r>
            <a:endParaRPr lang="en-US" sz="1800" dirty="0"/>
          </a:p>
        </p:txBody>
      </p:sp>
      <p:pic>
        <p:nvPicPr>
          <p:cNvPr id="6"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7" name="Text 3"/>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8" name="Text 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1 · Infraestructura local · Expone: Del Soto</a:t>
            </a:r>
            <a:endParaRPr lang="en-US" sz="1200" dirty="0"/>
          </a:p>
        </p:txBody>
      </p:sp>
      <p:sp>
        <p:nvSpPr>
          <p:cNvPr id="9"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2 · Cloud Computing</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Migrar la infraestructura a la nube</a:t>
            </a:r>
            <a:endParaRPr lang="en-US" sz="3200" dirty="0"/>
          </a:p>
        </p:txBody>
      </p:sp>
      <p:sp>
        <p:nvSpPr>
          <p:cNvPr id="4" name="Shape 2"/>
          <p:cNvSpPr/>
          <p:nvPr/>
        </p:nvSpPr>
        <p:spPr>
          <a:xfrm>
            <a:off x="819150" y="1819771"/>
            <a:ext cx="5168900" cy="4015879"/>
          </a:xfrm>
          <a:prstGeom prst="roundRect">
            <a:avLst>
              <a:gd name="adj" fmla="val 2372"/>
            </a:avLst>
          </a:prstGeom>
          <a:solidFill>
            <a:srgbClr val="FFFFFF"/>
          </a:solidFill>
          <a:ln w="12700">
            <a:solidFill>
              <a:srgbClr val="D1D5DB"/>
            </a:solidFill>
            <a:prstDash val="solid"/>
          </a:ln>
        </p:spPr>
      </p:sp>
      <p:sp>
        <p:nvSpPr>
          <p:cNvPr id="5" name="Text 3"/>
          <p:cNvSpPr/>
          <p:nvPr/>
        </p:nvSpPr>
        <p:spPr>
          <a:xfrm>
            <a:off x="1054100" y="205472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Ventajas</a:t>
            </a:r>
            <a:endParaRPr lang="en-US" sz="1900" dirty="0"/>
          </a:p>
        </p:txBody>
      </p:sp>
      <p:sp>
        <p:nvSpPr>
          <p:cNvPr id="6" name="Text 4"/>
          <p:cNvSpPr/>
          <p:nvPr/>
        </p:nvSpPr>
        <p:spPr>
          <a:xfrm>
            <a:off x="1054100" y="2433141"/>
            <a:ext cx="4839970" cy="10922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Menos inversión inicial: de CAPEX a OPEX</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Escalabilidad en minutos</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Backups y alta disponibilidad incluidos</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Acceso remoto desde varias plantas</a:t>
            </a:r>
            <a:endParaRPr lang="en-US" sz="1500" dirty="0"/>
          </a:p>
        </p:txBody>
      </p:sp>
      <p:sp>
        <p:nvSpPr>
          <p:cNvPr id="7" name="Shape 5"/>
          <p:cNvSpPr/>
          <p:nvPr/>
        </p:nvSpPr>
        <p:spPr>
          <a:xfrm>
            <a:off x="6203950" y="1819771"/>
            <a:ext cx="5168900" cy="4015879"/>
          </a:xfrm>
          <a:prstGeom prst="roundRect">
            <a:avLst>
              <a:gd name="adj" fmla="val 2372"/>
            </a:avLst>
          </a:prstGeom>
          <a:solidFill>
            <a:srgbClr val="FFFFFF"/>
          </a:solidFill>
          <a:ln w="12700">
            <a:solidFill>
              <a:srgbClr val="1F4E79"/>
            </a:solidFill>
            <a:prstDash val="solid"/>
          </a:ln>
        </p:spPr>
      </p:sp>
      <p:sp>
        <p:nvSpPr>
          <p:cNvPr id="8" name="Text 6"/>
          <p:cNvSpPr/>
          <p:nvPr/>
        </p:nvSpPr>
        <p:spPr>
          <a:xfrm>
            <a:off x="6438900" y="2054721"/>
            <a:ext cx="483997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2937"/>
                </a:solidFill>
                <a:latin typeface="IBM Plex Sans" pitchFamily="34" charset="0"/>
                <a:ea typeface="IBM Plex Sans" pitchFamily="34" charset="-122"/>
                <a:cs typeface="IBM Plex Sans" pitchFamily="34" charset="-120"/>
              </a:rPr>
              <a:t>Impactos y riesgos</a:t>
            </a:r>
            <a:endParaRPr lang="en-US" sz="1900" dirty="0"/>
          </a:p>
        </p:txBody>
      </p:sp>
      <p:sp>
        <p:nvSpPr>
          <p:cNvPr id="9" name="Text 7"/>
          <p:cNvSpPr/>
          <p:nvPr/>
        </p:nvSpPr>
        <p:spPr>
          <a:xfrm>
            <a:off x="6438900" y="2433141"/>
            <a:ext cx="4839970" cy="10922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Dependencia de Internet</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Latencia: no apto para control en tiempo real</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Costos variables si no se controlan</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Gobernanza de datos y mayor superficie de ataque</a:t>
            </a:r>
            <a:endParaRPr lang="en-US" sz="1500" dirty="0"/>
          </a:p>
        </p:txBody>
      </p:sp>
      <p:pic>
        <p:nvPicPr>
          <p:cNvPr id="10"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11" name="Text 8"/>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2" name="Text 9"/>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2 · Nube y ciberseguridad · Expone: Ferrero</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2 · Logística de acceso</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Creación de la cuenta de AWS</a:t>
            </a:r>
            <a:endParaRPr lang="en-US" sz="3200" dirty="0"/>
          </a:p>
        </p:txBody>
      </p:sp>
      <p:sp>
        <p:nvSpPr>
          <p:cNvPr id="4" name="Shape 2"/>
          <p:cNvSpPr/>
          <p:nvPr/>
        </p:nvSpPr>
        <p:spPr>
          <a:xfrm>
            <a:off x="819150" y="1819771"/>
            <a:ext cx="4889500" cy="4015879"/>
          </a:xfrm>
          <a:prstGeom prst="roundRect">
            <a:avLst>
              <a:gd name="adj" fmla="val 2372"/>
            </a:avLst>
          </a:prstGeom>
          <a:solidFill>
            <a:srgbClr val="FFFFFF"/>
          </a:solidFill>
          <a:ln w="12700">
            <a:solidFill>
              <a:srgbClr val="D1D5DB"/>
            </a:solidFill>
            <a:prstDash val="solid"/>
          </a:ln>
        </p:spPr>
      </p:sp>
      <p:sp>
        <p:nvSpPr>
          <p:cNvPr id="5" name="Text 3"/>
          <p:cNvSpPr/>
          <p:nvPr/>
        </p:nvSpPr>
        <p:spPr>
          <a:xfrm>
            <a:off x="1054100" y="2054721"/>
            <a:ext cx="455218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Pasos del registro</a:t>
            </a:r>
            <a:endParaRPr lang="en-US" sz="1700" dirty="0"/>
          </a:p>
        </p:txBody>
      </p:sp>
      <p:sp>
        <p:nvSpPr>
          <p:cNvPr id="6" name="Text 4"/>
          <p:cNvSpPr/>
          <p:nvPr/>
        </p:nvSpPr>
        <p:spPr>
          <a:xfrm>
            <a:off x="1054100" y="2402681"/>
            <a:ext cx="4552188" cy="1180802"/>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Email, nombre de cuenta y contraseña</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Plan de la cuenta (Free plan)</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Datos de contacto y tarjeta</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Verificación por email y teléfono</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Región us-east-1 y MFA</a:t>
            </a:r>
            <a:endParaRPr lang="en-US" sz="1300" dirty="0"/>
          </a:p>
        </p:txBody>
      </p:sp>
      <p:pic>
        <p:nvPicPr>
          <p:cNvPr id="7" name="Image 0" descr="Consola de AWS con la sesión iniciada">    </p:cNvPr>
          <p:cNvPicPr>
            <a:picLocks noChangeAspect="1"/>
          </p:cNvPicPr>
          <p:nvPr/>
        </p:nvPicPr>
        <p:blipFill>
          <a:blip r:embed="rId1"/>
          <a:srcRect l="-213" r="-213" t="0" b="0"/>
          <a:stretch/>
        </p:blipFill>
        <p:spPr>
          <a:xfrm>
            <a:off x="5930900" y="1826121"/>
            <a:ext cx="5435600" cy="2660650"/>
          </a:xfrm>
          <a:prstGeom prst="rect">
            <a:avLst/>
          </a:prstGeom>
        </p:spPr>
      </p:pic>
      <p:sp>
        <p:nvSpPr>
          <p:cNvPr id="8" name="Shape 5"/>
          <p:cNvSpPr/>
          <p:nvPr/>
        </p:nvSpPr>
        <p:spPr>
          <a:xfrm>
            <a:off x="5924550" y="1819771"/>
            <a:ext cx="5448300" cy="2673350"/>
          </a:xfrm>
          <a:prstGeom prst="rect">
            <a:avLst/>
          </a:prstGeom>
          <a:noFill/>
          <a:ln w="12700">
            <a:solidFill>
              <a:srgbClr val="D1D5DB"/>
            </a:solidFill>
            <a:prstDash val="solid"/>
          </a:ln>
        </p:spPr>
      </p:sp>
      <p:sp>
        <p:nvSpPr>
          <p:cNvPr id="9" name="Text 6"/>
          <p:cNvSpPr/>
          <p:nvPr/>
        </p:nvSpPr>
        <p:spPr>
          <a:xfrm>
            <a:off x="6796820" y="4562971"/>
            <a:ext cx="37036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Consola de AWS, región us-east-1 (Norte de Virginia)</a:t>
            </a:r>
            <a:endParaRPr lang="en-US" sz="1200" dirty="0"/>
          </a:p>
        </p:txBody>
      </p:sp>
      <p:pic>
        <p:nvPicPr>
          <p:cNvPr id="10"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11" name="Text 7"/>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2"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2 · Nube y ciberseguridad · Expone: Ferrero</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2 · Seguridad</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Responsabilidad compartida</a:t>
            </a:r>
            <a:endParaRPr lang="en-US" sz="3200" dirty="0"/>
          </a:p>
        </p:txBody>
      </p:sp>
      <p:sp>
        <p:nvSpPr>
          <p:cNvPr id="4" name="Shape 2"/>
          <p:cNvSpPr/>
          <p:nvPr/>
        </p:nvSpPr>
        <p:spPr>
          <a:xfrm>
            <a:off x="819150" y="1819771"/>
            <a:ext cx="5168900" cy="3502819"/>
          </a:xfrm>
          <a:prstGeom prst="roundRect">
            <a:avLst>
              <a:gd name="adj" fmla="val 2719"/>
            </a:avLst>
          </a:prstGeom>
          <a:solidFill>
            <a:srgbClr val="FFFFFF"/>
          </a:solidFill>
          <a:ln w="12700">
            <a:solidFill>
              <a:srgbClr val="D1D5DB"/>
            </a:solidFill>
            <a:prstDash val="solid"/>
          </a:ln>
        </p:spPr>
      </p:sp>
      <p:sp>
        <p:nvSpPr>
          <p:cNvPr id="5" name="Text 3"/>
          <p:cNvSpPr/>
          <p:nvPr/>
        </p:nvSpPr>
        <p:spPr>
          <a:xfrm>
            <a:off x="1054100" y="2054721"/>
            <a:ext cx="483997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937"/>
                </a:solidFill>
                <a:latin typeface="IBM Plex Sans" pitchFamily="34" charset="0"/>
                <a:ea typeface="IBM Plex Sans" pitchFamily="34" charset="-122"/>
                <a:cs typeface="IBM Plex Sans" pitchFamily="34" charset="-120"/>
              </a:rPr>
              <a:t>AWS: seguridad DE la nube</a:t>
            </a:r>
            <a:endParaRPr lang="en-US" sz="2200" dirty="0"/>
          </a:p>
        </p:txBody>
      </p:sp>
      <p:sp>
        <p:nvSpPr>
          <p:cNvPr id="6" name="Text 4"/>
          <p:cNvSpPr/>
          <p:nvPr/>
        </p:nvSpPr>
        <p:spPr>
          <a:xfrm>
            <a:off x="1054100" y="2478881"/>
            <a:ext cx="483997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B5563"/>
                </a:solidFill>
                <a:latin typeface="IBM Plex Sans" pitchFamily="34" charset="0"/>
                <a:ea typeface="IBM Plex Sans" pitchFamily="34" charset="-122"/>
                <a:cs typeface="IBM Plex Sans" pitchFamily="34" charset="-120"/>
              </a:rPr>
              <a:t>Datacenters, hardware, red física, virtualización y parches del motor en RDS.</a:t>
            </a:r>
            <a:endParaRPr lang="en-US" sz="1600" dirty="0"/>
          </a:p>
        </p:txBody>
      </p:sp>
      <p:sp>
        <p:nvSpPr>
          <p:cNvPr id="7" name="Shape 5"/>
          <p:cNvSpPr/>
          <p:nvPr/>
        </p:nvSpPr>
        <p:spPr>
          <a:xfrm>
            <a:off x="6203950" y="1819771"/>
            <a:ext cx="5168900" cy="3502819"/>
          </a:xfrm>
          <a:prstGeom prst="roundRect">
            <a:avLst>
              <a:gd name="adj" fmla="val 2719"/>
            </a:avLst>
          </a:prstGeom>
          <a:solidFill>
            <a:srgbClr val="FFFFFF"/>
          </a:solidFill>
          <a:ln w="12700">
            <a:solidFill>
              <a:srgbClr val="1F4E79"/>
            </a:solidFill>
            <a:prstDash val="solid"/>
          </a:ln>
        </p:spPr>
      </p:sp>
      <p:sp>
        <p:nvSpPr>
          <p:cNvPr id="8" name="Text 6"/>
          <p:cNvSpPr/>
          <p:nvPr/>
        </p:nvSpPr>
        <p:spPr>
          <a:xfrm>
            <a:off x="6438900" y="2054721"/>
            <a:ext cx="483997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937"/>
                </a:solidFill>
                <a:latin typeface="IBM Plex Sans" pitchFamily="34" charset="0"/>
                <a:ea typeface="IBM Plex Sans" pitchFamily="34" charset="-122"/>
                <a:cs typeface="IBM Plex Sans" pitchFamily="34" charset="-120"/>
              </a:rPr>
              <a:t>Nosotros: seguridad EN la nube</a:t>
            </a:r>
            <a:endParaRPr lang="en-US" sz="2200" dirty="0"/>
          </a:p>
        </p:txBody>
      </p:sp>
      <p:sp>
        <p:nvSpPr>
          <p:cNvPr id="9" name="Text 7"/>
          <p:cNvSpPr/>
          <p:nvPr/>
        </p:nvSpPr>
        <p:spPr>
          <a:xfrm>
            <a:off x="6438900" y="2478881"/>
            <a:ext cx="483997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B5563"/>
                </a:solidFill>
                <a:latin typeface="IBM Plex Sans" pitchFamily="34" charset="0"/>
                <a:ea typeface="IBM Plex Sans" pitchFamily="34" charset="-122"/>
                <a:cs typeface="IBM Plex Sans" pitchFamily="34" charset="-120"/>
              </a:rPr>
              <a:t>Quién se conecta, contraseñas, reglas del Security Group, usuarios y datos.</a:t>
            </a:r>
            <a:endParaRPr lang="en-US" sz="1600" dirty="0"/>
          </a:p>
        </p:txBody>
      </p:sp>
      <p:sp>
        <p:nvSpPr>
          <p:cNvPr id="10" name="Text 8"/>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IBM Plex Sans" pitchFamily="34" charset="0"/>
                <a:ea typeface="IBM Plex Sans" pitchFamily="34" charset="-122"/>
                <a:cs typeface="IBM Plex Sans" pitchFamily="34" charset="-120"/>
              </a:rPr>
              <a:t>El Security Group es una responsabilidad del cliente.</a:t>
            </a:r>
            <a:endParaRPr lang="en-US" sz="1600" dirty="0"/>
          </a:p>
        </p:txBody>
      </p:sp>
      <p:pic>
        <p:nvPicPr>
          <p:cNvPr id="11"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12" name="Text 9"/>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2 · Nube y ciberseguridad · Expone: Ferrero</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2 · Perímetro de ciberseguridad</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Security Group para SQL Server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13421"/>
          <a:ext cx="10566400" cy="718542"/>
        </p:xfrm>
        <a:graphic>
          <a:graphicData uri="http://schemas.openxmlformats.org/drawingml/2006/table">
            <a:tbl>
              <a:tblPr/>
              <a:tblGrid>
                <a:gridCol w="2747264"/>
                <a:gridCol w="1479296"/>
                <a:gridCol w="1479296"/>
                <a:gridCol w="1267968"/>
                <a:gridCol w="3592576"/>
              </a:tblGrid>
              <a:tr h="359271">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Nombre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Tipo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Protocolo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Puerto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Origen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01sg-rds-sqlserver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MSSQL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TCP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1433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Mi IP (una sola dirección, /32)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bl>
          </a:graphicData>
        </a:graphic>
      </p:graphicFrame>
      <p:pic>
        <p:nvPicPr>
          <p:cNvPr id="5" name="Image 0" descr="Regla de entrada del Security Group">    </p:cNvPr>
          <p:cNvPicPr>
            <a:picLocks noChangeAspect="1"/>
          </p:cNvPicPr>
          <p:nvPr/>
        </p:nvPicPr>
        <p:blipFill>
          <a:blip r:embed="rId1"/>
          <a:srcRect l="-900" r="-900" t="0" b="0"/>
          <a:stretch/>
        </p:blipFill>
        <p:spPr>
          <a:xfrm>
            <a:off x="1155700" y="2785963"/>
            <a:ext cx="9880600" cy="1085850"/>
          </a:xfrm>
          <a:prstGeom prst="rect">
            <a:avLst/>
          </a:prstGeom>
        </p:spPr>
      </p:pic>
      <p:sp>
        <p:nvSpPr>
          <p:cNvPr id="6" name="Shape 2"/>
          <p:cNvSpPr/>
          <p:nvPr/>
        </p:nvSpPr>
        <p:spPr>
          <a:xfrm>
            <a:off x="1149350" y="2779613"/>
            <a:ext cx="9893300" cy="1098550"/>
          </a:xfrm>
          <a:prstGeom prst="rect">
            <a:avLst/>
          </a:prstGeom>
          <a:noFill/>
          <a:ln w="12700">
            <a:solidFill>
              <a:srgbClr val="D1D5DB"/>
            </a:solidFill>
            <a:prstDash val="solid"/>
          </a:ln>
        </p:spPr>
      </p:sp>
      <p:sp>
        <p:nvSpPr>
          <p:cNvPr id="7" name="Text 3"/>
          <p:cNvSpPr/>
          <p:nvPr/>
        </p:nvSpPr>
        <p:spPr>
          <a:xfrm>
            <a:off x="3805701" y="3948013"/>
            <a:ext cx="458059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Regla de entrada: MSSQL, TCP 1433, origen Mi IP /32 (IP tapada)</a:t>
            </a:r>
            <a:endParaRPr lang="en-US" sz="1200" dirty="0"/>
          </a:p>
        </p:txBody>
      </p:sp>
      <p:pic>
        <p:nvPicPr>
          <p:cNvPr id="8"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9" name="Text 4"/>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0"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2 · Nube y ciberseguridad · Expone: Ferrero</a:t>
            </a:r>
            <a:endParaRPr lang="en-US" sz="1200" dirty="0"/>
          </a:p>
        </p:txBody>
      </p:sp>
      <p:sp>
        <p:nvSpPr>
          <p:cNvPr id="11"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2 · Perímetro de ciberseguridad</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1433: Mi IP versus todo Internet</a:t>
            </a:r>
            <a:endParaRPr lang="en-US" sz="3200" dirty="0"/>
          </a:p>
        </p:txBody>
      </p:sp>
      <p:sp>
        <p:nvSpPr>
          <p:cNvPr id="4" name="Shape 2"/>
          <p:cNvSpPr/>
          <p:nvPr/>
        </p:nvSpPr>
        <p:spPr>
          <a:xfrm>
            <a:off x="819150" y="1819771"/>
            <a:ext cx="5168900" cy="3502819"/>
          </a:xfrm>
          <a:prstGeom prst="roundRect">
            <a:avLst>
              <a:gd name="adj" fmla="val 2719"/>
            </a:avLst>
          </a:prstGeom>
          <a:solidFill>
            <a:srgbClr val="FFFFFF"/>
          </a:solidFill>
          <a:ln w="12700">
            <a:solidFill>
              <a:srgbClr val="D1D5DB"/>
            </a:solidFill>
            <a:prstDash val="solid"/>
          </a:ln>
        </p:spPr>
      </p:sp>
      <p:sp>
        <p:nvSpPr>
          <p:cNvPr id="5" name="Text 3"/>
          <p:cNvSpPr/>
          <p:nvPr/>
        </p:nvSpPr>
        <p:spPr>
          <a:xfrm>
            <a:off x="1054100" y="2054721"/>
            <a:ext cx="4839970"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F2937"/>
                </a:solidFill>
                <a:latin typeface="IBM Plex Sans" pitchFamily="34" charset="0"/>
                <a:ea typeface="IBM Plex Sans" pitchFamily="34" charset="-122"/>
                <a:cs typeface="IBM Plex Sans" pitchFamily="34" charset="-120"/>
              </a:rPr>
              <a:t>Mi IP (/32)</a:t>
            </a:r>
            <a:endParaRPr lang="en-US" sz="2100" dirty="0"/>
          </a:p>
        </p:txBody>
      </p:sp>
      <p:sp>
        <p:nvSpPr>
          <p:cNvPr id="6" name="Text 4"/>
          <p:cNvSpPr/>
          <p:nvPr/>
        </p:nvSpPr>
        <p:spPr>
          <a:xfrm>
            <a:off x="1054100" y="2463602"/>
            <a:ext cx="4839970" cy="8255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Una sola dirección autorizada</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Mínimo privilegio</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Superficie de ataque mínima</a:t>
            </a:r>
            <a:endParaRPr lang="en-US" sz="1500" dirty="0"/>
          </a:p>
        </p:txBody>
      </p:sp>
      <p:sp>
        <p:nvSpPr>
          <p:cNvPr id="7" name="Shape 5"/>
          <p:cNvSpPr/>
          <p:nvPr/>
        </p:nvSpPr>
        <p:spPr>
          <a:xfrm>
            <a:off x="6203950" y="1819771"/>
            <a:ext cx="5168900" cy="3502819"/>
          </a:xfrm>
          <a:prstGeom prst="roundRect">
            <a:avLst>
              <a:gd name="adj" fmla="val 2719"/>
            </a:avLst>
          </a:prstGeom>
          <a:solidFill>
            <a:srgbClr val="FFFFFF"/>
          </a:solidFill>
          <a:ln w="12700">
            <a:solidFill>
              <a:srgbClr val="1F4E79"/>
            </a:solidFill>
            <a:prstDash val="solid"/>
          </a:ln>
        </p:spPr>
      </p:sp>
      <p:sp>
        <p:nvSpPr>
          <p:cNvPr id="8" name="Text 6"/>
          <p:cNvSpPr/>
          <p:nvPr/>
        </p:nvSpPr>
        <p:spPr>
          <a:xfrm>
            <a:off x="6438900" y="2054721"/>
            <a:ext cx="4839970" cy="345380"/>
          </a:xfrm>
          <a:prstGeom prst="rect">
            <a:avLst/>
          </a:prstGeom>
          <a:noFill/>
          <a:ln/>
        </p:spPr>
        <p:txBody>
          <a:bodyPr wrap="square" lIns="0" tIns="0" rIns="0" bIns="0" rtlCol="0" anchor="t">
            <a:normAutofit/>
          </a:bodyPr>
          <a:lstStyle/>
          <a:p>
            <a:pPr algn="l" indent="0" marL="0">
              <a:lnSpc>
                <a:spcPts val="2520"/>
              </a:lnSpc>
              <a:buNone/>
            </a:pPr>
            <a:r>
              <a:rPr lang="en-US" sz="2100" b="1" dirty="0">
                <a:solidFill>
                  <a:srgbClr val="1F2937"/>
                </a:solidFill>
                <a:latin typeface="IBM Plex Sans" pitchFamily="34" charset="0"/>
                <a:ea typeface="IBM Plex Sans" pitchFamily="34" charset="-122"/>
                <a:cs typeface="IBM Plex Sans" pitchFamily="34" charset="-120"/>
              </a:rPr>
              <a:t>0.0.0.0/0: todo Internet</a:t>
            </a:r>
            <a:endParaRPr lang="en-US" sz="2100" dirty="0"/>
          </a:p>
        </p:txBody>
      </p:sp>
      <p:sp>
        <p:nvSpPr>
          <p:cNvPr id="9" name="Text 7"/>
          <p:cNvSpPr/>
          <p:nvPr/>
        </p:nvSpPr>
        <p:spPr>
          <a:xfrm>
            <a:off x="6438900" y="2463602"/>
            <a:ext cx="4839970" cy="8255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Escaneo continuo del puerto 1433</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Fuerza bruta contra el usuario admin</a:t>
            </a:r>
            <a:endParaRPr lang="en-US" sz="1500" dirty="0"/>
          </a:p>
          <a:p>
            <a:pPr algn="l" marL="342900" indent="-342900">
              <a:lnSpc>
                <a:spcPts val="2100"/>
              </a:lnSpc>
              <a:buSzPct val="100000"/>
              <a:buChar char="•"/>
            </a:pPr>
            <a:r>
              <a:rPr lang="en-US" sz="1500" dirty="0">
                <a:solidFill>
                  <a:srgbClr val="4B5563"/>
                </a:solidFill>
                <a:latin typeface="IBM Plex Sans" pitchFamily="34" charset="0"/>
                <a:ea typeface="IBM Plex Sans" pitchFamily="34" charset="-122"/>
                <a:cs typeface="IBM Plex Sans" pitchFamily="34" charset="-120"/>
              </a:rPr>
              <a:t>Robo o cifrado de datos (ransomware)</a:t>
            </a:r>
            <a:endParaRPr lang="en-US" sz="1500" dirty="0"/>
          </a:p>
        </p:txBody>
      </p:sp>
      <p:sp>
        <p:nvSpPr>
          <p:cNvPr id="10" name="Text 8"/>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IBM Plex Sans" pitchFamily="34" charset="0"/>
                <a:ea typeface="IBM Plex Sans" pitchFamily="34" charset="-122"/>
                <a:cs typeface="IBM Plex Sans" pitchFamily="34" charset="-120"/>
              </a:rPr>
              <a:t>En planta real:</a:t>
            </a:r>
            <a:r>
              <a:rPr lang="en-US" sz="1600" dirty="0">
                <a:solidFill>
                  <a:srgbClr val="1F2937"/>
                </a:solidFill>
                <a:latin typeface="IBM Plex Sans" pitchFamily="34" charset="0"/>
                <a:ea typeface="IBM Plex Sans" pitchFamily="34" charset="-122"/>
                <a:cs typeface="IBM Plex Sans" pitchFamily="34" charset="-120"/>
              </a:rPr>
              <a:t> subred privada, acceso por VPN y usuarios con permisos mínimos.</a:t>
            </a:r>
            <a:endParaRPr lang="en-US" sz="1600" dirty="0"/>
          </a:p>
        </p:txBody>
      </p:sp>
      <p:pic>
        <p:nvPicPr>
          <p:cNvPr id="11"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12" name="Text 9"/>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3"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2 · Nube y ciberseguridad · Expone: Ferrero</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3 · Aprovisionamiento en AWS RDS</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SQL Server Express en Amazon RDS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13421"/>
          <a:ext cx="10566400" cy="3473648"/>
        </p:xfrm>
        <a:graphic>
          <a:graphicData uri="http://schemas.openxmlformats.org/drawingml/2006/table">
            <a:tbl>
              <a:tblPr/>
              <a:tblGrid>
                <a:gridCol w="3169920"/>
                <a:gridCol w="7396480"/>
              </a:tblGrid>
              <a:tr h="385961">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Parámetro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Configuración elegida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Motor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Microsoft SQL Server, Express Edition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Método de creación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Standard create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Disponibilidad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Single-AZ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Identificador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planta-industrial-db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Usuario maestro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admin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Almacenamiento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20 GiB SSD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Acceso público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Sí, limitado por el Security Group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Puerto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1433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bl>
          </a:graphicData>
        </a:graphic>
      </p:graphicFrame>
      <p:pic>
        <p:nvPicPr>
          <p:cNvPr id="5"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6" name="Text 2"/>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7"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3 · Implementación · Expone: Vera</a:t>
            </a:r>
            <a:endParaRPr lang="en-US" sz="1200" dirty="0"/>
          </a:p>
        </p:txBody>
      </p:sp>
      <p:sp>
        <p:nvSpPr>
          <p:cNvPr id="8"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3 · Aprovisionamiento en AWS RDS</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Instancia disponible y punto de enlace</a:t>
            </a:r>
            <a:endParaRPr lang="en-US" sz="3200" dirty="0"/>
          </a:p>
        </p:txBody>
      </p:sp>
      <p:pic>
        <p:nvPicPr>
          <p:cNvPr id="4" name="Image 0" descr="Resumen de la instancia planta-industrial-db">    </p:cNvPr>
          <p:cNvPicPr>
            <a:picLocks noChangeAspect="1"/>
          </p:cNvPicPr>
          <p:nvPr/>
        </p:nvPicPr>
        <p:blipFill>
          <a:blip r:embed="rId1"/>
          <a:srcRect l="-208" r="-208" t="0" b="0"/>
          <a:stretch/>
        </p:blipFill>
        <p:spPr>
          <a:xfrm>
            <a:off x="825500" y="1826121"/>
            <a:ext cx="5181600" cy="2565400"/>
          </a:xfrm>
          <a:prstGeom prst="rect">
            <a:avLst/>
          </a:prstGeom>
        </p:spPr>
      </p:pic>
      <p:sp>
        <p:nvSpPr>
          <p:cNvPr id="5" name="Shape 2"/>
          <p:cNvSpPr/>
          <p:nvPr/>
        </p:nvSpPr>
        <p:spPr>
          <a:xfrm>
            <a:off x="819150" y="1819771"/>
            <a:ext cx="5194300" cy="2578100"/>
          </a:xfrm>
          <a:prstGeom prst="rect">
            <a:avLst/>
          </a:prstGeom>
          <a:noFill/>
          <a:ln w="12700">
            <a:solidFill>
              <a:srgbClr val="D1D5DB"/>
            </a:solidFill>
            <a:prstDash val="solid"/>
          </a:ln>
        </p:spPr>
      </p:sp>
      <p:sp>
        <p:nvSpPr>
          <p:cNvPr id="6" name="Text 3"/>
          <p:cNvSpPr/>
          <p:nvPr/>
        </p:nvSpPr>
        <p:spPr>
          <a:xfrm>
            <a:off x="1613576" y="4467721"/>
            <a:ext cx="360534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Estado Disponible, SQL Server Express, db.t3.micro</a:t>
            </a:r>
            <a:endParaRPr lang="en-US" sz="1200" dirty="0"/>
          </a:p>
        </p:txBody>
      </p:sp>
      <p:pic>
        <p:nvPicPr>
          <p:cNvPr id="7" name="Image 1" descr="Punto de enlace y puerto de la instancia">    </p:cNvPr>
          <p:cNvPicPr>
            <a:picLocks noChangeAspect="1"/>
          </p:cNvPicPr>
          <p:nvPr/>
        </p:nvPicPr>
        <p:blipFill>
          <a:blip r:embed="rId2"/>
          <a:srcRect l="-1117" r="-1117" t="0" b="0"/>
          <a:stretch/>
        </p:blipFill>
        <p:spPr>
          <a:xfrm>
            <a:off x="6337300" y="1826121"/>
            <a:ext cx="4927600" cy="800100"/>
          </a:xfrm>
          <a:prstGeom prst="rect">
            <a:avLst/>
          </a:prstGeom>
        </p:spPr>
      </p:pic>
      <p:sp>
        <p:nvSpPr>
          <p:cNvPr id="8" name="Shape 4"/>
          <p:cNvSpPr/>
          <p:nvPr/>
        </p:nvSpPr>
        <p:spPr>
          <a:xfrm>
            <a:off x="6330950" y="1819771"/>
            <a:ext cx="4940300" cy="812800"/>
          </a:xfrm>
          <a:prstGeom prst="rect">
            <a:avLst/>
          </a:prstGeom>
          <a:noFill/>
          <a:ln w="12700">
            <a:solidFill>
              <a:srgbClr val="D1D5DB"/>
            </a:solidFill>
            <a:prstDash val="solid"/>
          </a:ln>
        </p:spPr>
      </p:sp>
      <p:sp>
        <p:nvSpPr>
          <p:cNvPr id="9" name="Text 5"/>
          <p:cNvSpPr/>
          <p:nvPr/>
        </p:nvSpPr>
        <p:spPr>
          <a:xfrm>
            <a:off x="7717831" y="2702421"/>
            <a:ext cx="216643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Punto de enlace y puerto 1433</a:t>
            </a:r>
            <a:endParaRPr lang="en-US" sz="1200" dirty="0"/>
          </a:p>
        </p:txBody>
      </p:sp>
      <p:sp>
        <p:nvSpPr>
          <p:cNvPr id="10" name="Shape 6"/>
          <p:cNvSpPr/>
          <p:nvPr/>
        </p:nvSpPr>
        <p:spPr>
          <a:xfrm>
            <a:off x="6229350" y="3074491"/>
            <a:ext cx="5143500" cy="2761159"/>
          </a:xfrm>
          <a:prstGeom prst="roundRect">
            <a:avLst>
              <a:gd name="adj" fmla="val 3450"/>
            </a:avLst>
          </a:prstGeom>
          <a:solidFill>
            <a:srgbClr val="FFFFFF"/>
          </a:solidFill>
          <a:ln w="12700">
            <a:solidFill>
              <a:srgbClr val="D1D5DB"/>
            </a:solidFill>
            <a:prstDash val="solid"/>
          </a:ln>
        </p:spPr>
      </p:sp>
      <p:sp>
        <p:nvSpPr>
          <p:cNvPr id="11" name="Text 7"/>
          <p:cNvSpPr/>
          <p:nvPr/>
        </p:nvSpPr>
        <p:spPr>
          <a:xfrm>
            <a:off x="6464300" y="3309441"/>
            <a:ext cx="48138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Datos para conectar</a:t>
            </a:r>
            <a:endParaRPr lang="en-US" sz="1700" dirty="0"/>
          </a:p>
        </p:txBody>
      </p:sp>
      <p:sp>
        <p:nvSpPr>
          <p:cNvPr id="12" name="Text 8"/>
          <p:cNvSpPr/>
          <p:nvPr/>
        </p:nvSpPr>
        <p:spPr>
          <a:xfrm>
            <a:off x="6464300" y="3657402"/>
            <a:ext cx="4813808" cy="718641"/>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Servidor: punto de enlace y puerto 1433</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Usuario maestro: admin</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Acceso público habilitado, filtrado por el Security Group</a:t>
            </a:r>
            <a:endParaRPr lang="en-US" sz="1300" dirty="0"/>
          </a:p>
        </p:txBody>
      </p:sp>
      <p:pic>
        <p:nvPicPr>
          <p:cNvPr id="13" name="Image 2" descr="UTN Facultad Regional Córdoba">    </p:cNvPr>
          <p:cNvPicPr>
            <a:picLocks noChangeAspect="1"/>
          </p:cNvPicPr>
          <p:nvPr/>
        </p:nvPicPr>
        <p:blipFill>
          <a:blip r:embed="rId3"/>
          <a:srcRect l="-216" r="-216" t="0" b="0"/>
          <a:stretch/>
        </p:blipFill>
        <p:spPr>
          <a:xfrm>
            <a:off x="10248900" y="190500"/>
            <a:ext cx="1130300" cy="444500"/>
          </a:xfrm>
          <a:prstGeom prst="rect">
            <a:avLst/>
          </a:prstGeom>
        </p:spPr>
      </p:pic>
      <p:sp>
        <p:nvSpPr>
          <p:cNvPr id="14" name="Text 9"/>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5"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3 · Implementación · Expone: Vera</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3 · Arquitectura</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Del cliente local a la base en AWS</a:t>
            </a:r>
            <a:endParaRPr lang="en-US" sz="3200" dirty="0"/>
          </a:p>
        </p:txBody>
      </p:sp>
      <p:sp>
        <p:nvSpPr>
          <p:cNvPr id="4" name="Shape 2"/>
          <p:cNvSpPr/>
          <p:nvPr/>
        </p:nvSpPr>
        <p:spPr>
          <a:xfrm>
            <a:off x="819150" y="1819771"/>
            <a:ext cx="2133600" cy="3520579"/>
          </a:xfrm>
          <a:prstGeom prst="roundRect">
            <a:avLst>
              <a:gd name="adj" fmla="val 4464"/>
            </a:avLst>
          </a:prstGeom>
          <a:solidFill>
            <a:srgbClr val="FFFFFF"/>
          </a:solidFill>
          <a:ln w="12700">
            <a:solidFill>
              <a:srgbClr val="D1D5DB"/>
            </a:solidFill>
            <a:prstDash val="solid"/>
          </a:ln>
        </p:spPr>
      </p:sp>
      <p:sp>
        <p:nvSpPr>
          <p:cNvPr id="5" name="Text 3"/>
          <p:cNvSpPr/>
          <p:nvPr/>
        </p:nvSpPr>
        <p:spPr>
          <a:xfrm>
            <a:off x="1003300" y="3317776"/>
            <a:ext cx="181825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Mi PC</a:t>
            </a:r>
            <a:endParaRPr lang="en-US" sz="1700" dirty="0"/>
          </a:p>
        </p:txBody>
      </p:sp>
      <p:sp>
        <p:nvSpPr>
          <p:cNvPr id="6" name="Text 4"/>
          <p:cNvSpPr/>
          <p:nvPr/>
        </p:nvSpPr>
        <p:spPr>
          <a:xfrm>
            <a:off x="1003300" y="3627636"/>
            <a:ext cx="1818259"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5563"/>
                </a:solidFill>
                <a:latin typeface="IBM Plex Sans" pitchFamily="34" charset="0"/>
                <a:ea typeface="IBM Plex Sans" pitchFamily="34" charset="-122"/>
                <a:cs typeface="IBM Plex Sans" pitchFamily="34" charset="-120"/>
              </a:rPr>
              <a:t>SSMS como cliente</a:t>
            </a:r>
            <a:endParaRPr lang="en-US" sz="1300" dirty="0"/>
          </a:p>
        </p:txBody>
      </p:sp>
      <p:pic>
        <p:nvPicPr>
          <p:cNvPr id="7" name="Image 0" descr="arrow-right">    </p:cNvPr>
          <p:cNvPicPr>
            <a:picLocks noChangeAspect="1"/>
          </p:cNvPicPr>
          <p:nvPr/>
        </p:nvPicPr>
        <p:blipFill>
          <a:blip r:embed="rId1"/>
          <a:srcRect l="0" r="0" t="0" b="0"/>
          <a:stretch/>
        </p:blipFill>
        <p:spPr>
          <a:xfrm>
            <a:off x="3060700" y="3453011"/>
            <a:ext cx="457200" cy="254000"/>
          </a:xfrm>
          <a:prstGeom prst="rect">
            <a:avLst/>
          </a:prstGeom>
        </p:spPr>
      </p:pic>
      <p:sp>
        <p:nvSpPr>
          <p:cNvPr id="8" name="Shape 5"/>
          <p:cNvSpPr/>
          <p:nvPr/>
        </p:nvSpPr>
        <p:spPr>
          <a:xfrm>
            <a:off x="3625850" y="1819771"/>
            <a:ext cx="2133600" cy="3520579"/>
          </a:xfrm>
          <a:prstGeom prst="roundRect">
            <a:avLst>
              <a:gd name="adj" fmla="val 4464"/>
            </a:avLst>
          </a:prstGeom>
          <a:solidFill>
            <a:srgbClr val="FFFFFF"/>
          </a:solidFill>
          <a:ln w="12700">
            <a:solidFill>
              <a:srgbClr val="D1D5DB"/>
            </a:solidFill>
            <a:prstDash val="solid"/>
          </a:ln>
        </p:spPr>
      </p:sp>
      <p:sp>
        <p:nvSpPr>
          <p:cNvPr id="9" name="Text 6"/>
          <p:cNvSpPr/>
          <p:nvPr/>
        </p:nvSpPr>
        <p:spPr>
          <a:xfrm>
            <a:off x="3810000" y="3317776"/>
            <a:ext cx="181825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Internet</a:t>
            </a:r>
            <a:endParaRPr lang="en-US" sz="1700" dirty="0"/>
          </a:p>
        </p:txBody>
      </p:sp>
      <p:sp>
        <p:nvSpPr>
          <p:cNvPr id="10" name="Text 7"/>
          <p:cNvSpPr/>
          <p:nvPr/>
        </p:nvSpPr>
        <p:spPr>
          <a:xfrm>
            <a:off x="3810000" y="3627636"/>
            <a:ext cx="1818259"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5563"/>
                </a:solidFill>
                <a:latin typeface="IBM Plex Sans" pitchFamily="34" charset="0"/>
                <a:ea typeface="IBM Plex Sans" pitchFamily="34" charset="-122"/>
                <a:cs typeface="IBM Plex Sans" pitchFamily="34" charset="-120"/>
              </a:rPr>
              <a:t>Conexión cifrada</a:t>
            </a:r>
            <a:endParaRPr lang="en-US" sz="1300" dirty="0"/>
          </a:p>
        </p:txBody>
      </p:sp>
      <p:pic>
        <p:nvPicPr>
          <p:cNvPr id="11" name="Image 1" descr="arrow-right">    </p:cNvPr>
          <p:cNvPicPr>
            <a:picLocks noChangeAspect="1"/>
          </p:cNvPicPr>
          <p:nvPr/>
        </p:nvPicPr>
        <p:blipFill>
          <a:blip r:embed="rId2"/>
          <a:srcRect l="0" r="0" t="0" b="0"/>
          <a:stretch/>
        </p:blipFill>
        <p:spPr>
          <a:xfrm>
            <a:off x="5867400" y="3453011"/>
            <a:ext cx="457200" cy="254000"/>
          </a:xfrm>
          <a:prstGeom prst="rect">
            <a:avLst/>
          </a:prstGeom>
        </p:spPr>
      </p:pic>
      <p:sp>
        <p:nvSpPr>
          <p:cNvPr id="12" name="Shape 8"/>
          <p:cNvSpPr/>
          <p:nvPr/>
        </p:nvSpPr>
        <p:spPr>
          <a:xfrm>
            <a:off x="6432550" y="1819771"/>
            <a:ext cx="2133600" cy="3520579"/>
          </a:xfrm>
          <a:prstGeom prst="roundRect">
            <a:avLst>
              <a:gd name="adj" fmla="val 4464"/>
            </a:avLst>
          </a:prstGeom>
          <a:solidFill>
            <a:srgbClr val="FFFFFF"/>
          </a:solidFill>
          <a:ln w="12700">
            <a:solidFill>
              <a:srgbClr val="1F4E79"/>
            </a:solidFill>
            <a:prstDash val="solid"/>
          </a:ln>
        </p:spPr>
      </p:sp>
      <p:sp>
        <p:nvSpPr>
          <p:cNvPr id="13" name="Text 9"/>
          <p:cNvSpPr/>
          <p:nvPr/>
        </p:nvSpPr>
        <p:spPr>
          <a:xfrm>
            <a:off x="6616700" y="3210520"/>
            <a:ext cx="181825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Security Group</a:t>
            </a:r>
            <a:endParaRPr lang="en-US" sz="1700" dirty="0"/>
          </a:p>
        </p:txBody>
      </p:sp>
      <p:sp>
        <p:nvSpPr>
          <p:cNvPr id="14" name="Text 10"/>
          <p:cNvSpPr/>
          <p:nvPr/>
        </p:nvSpPr>
        <p:spPr>
          <a:xfrm>
            <a:off x="6616700" y="3520380"/>
            <a:ext cx="1818259"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5563"/>
                </a:solidFill>
                <a:latin typeface="IBM Plex Sans" pitchFamily="34" charset="0"/>
                <a:ea typeface="IBM Plex Sans" pitchFamily="34" charset="-122"/>
                <a:cs typeface="IBM Plex Sans" pitchFamily="34" charset="-120"/>
              </a:rPr>
              <a:t>TCP 1433 solo desde Mi IP</a:t>
            </a:r>
            <a:endParaRPr lang="en-US" sz="1300" dirty="0"/>
          </a:p>
        </p:txBody>
      </p:sp>
      <p:pic>
        <p:nvPicPr>
          <p:cNvPr id="15" name="Image 2" descr="arrow-right">    </p:cNvPr>
          <p:cNvPicPr>
            <a:picLocks noChangeAspect="1"/>
          </p:cNvPicPr>
          <p:nvPr/>
        </p:nvPicPr>
        <p:blipFill>
          <a:blip r:embed="rId3"/>
          <a:srcRect l="0" r="0" t="0" b="0"/>
          <a:stretch/>
        </p:blipFill>
        <p:spPr>
          <a:xfrm>
            <a:off x="8674100" y="3453011"/>
            <a:ext cx="457200" cy="254000"/>
          </a:xfrm>
          <a:prstGeom prst="rect">
            <a:avLst/>
          </a:prstGeom>
        </p:spPr>
      </p:pic>
      <p:sp>
        <p:nvSpPr>
          <p:cNvPr id="16" name="Shape 11"/>
          <p:cNvSpPr/>
          <p:nvPr/>
        </p:nvSpPr>
        <p:spPr>
          <a:xfrm>
            <a:off x="9239250" y="1819771"/>
            <a:ext cx="2133600" cy="3520579"/>
          </a:xfrm>
          <a:prstGeom prst="roundRect">
            <a:avLst>
              <a:gd name="adj" fmla="val 4464"/>
            </a:avLst>
          </a:prstGeom>
          <a:solidFill>
            <a:srgbClr val="FFFFFF"/>
          </a:solidFill>
          <a:ln w="12700">
            <a:solidFill>
              <a:srgbClr val="D1D5DB"/>
            </a:solidFill>
            <a:prstDash val="solid"/>
          </a:ln>
        </p:spPr>
      </p:sp>
      <p:sp>
        <p:nvSpPr>
          <p:cNvPr id="17" name="Text 12"/>
          <p:cNvSpPr/>
          <p:nvPr/>
        </p:nvSpPr>
        <p:spPr>
          <a:xfrm>
            <a:off x="9423400" y="3210520"/>
            <a:ext cx="181825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RDS SQL Server</a:t>
            </a:r>
            <a:endParaRPr lang="en-US" sz="1700" dirty="0"/>
          </a:p>
        </p:txBody>
      </p:sp>
      <p:sp>
        <p:nvSpPr>
          <p:cNvPr id="18" name="Text 13"/>
          <p:cNvSpPr/>
          <p:nvPr/>
        </p:nvSpPr>
        <p:spPr>
          <a:xfrm>
            <a:off x="9423400" y="3520380"/>
            <a:ext cx="1818259"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5563"/>
                </a:solidFill>
                <a:latin typeface="IBM Plex Sans" pitchFamily="34" charset="0"/>
                <a:ea typeface="IBM Plex Sans" pitchFamily="34" charset="-122"/>
                <a:cs typeface="IBM Plex Sans" pitchFamily="34" charset="-120"/>
              </a:rPr>
              <a:t>Express, Planta_Industrial</a:t>
            </a:r>
            <a:endParaRPr lang="en-US" sz="1300" dirty="0"/>
          </a:p>
        </p:txBody>
      </p:sp>
      <p:sp>
        <p:nvSpPr>
          <p:cNvPr id="19" name="Text 14"/>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563"/>
                </a:solidFill>
                <a:latin typeface="IBM Plex Sans" pitchFamily="34" charset="0"/>
                <a:ea typeface="IBM Plex Sans" pitchFamily="34" charset="-122"/>
                <a:cs typeface="IBM Plex Sans" pitchFamily="34" charset="-120"/>
              </a:rPr>
              <a:t>Servidor: </a:t>
            </a:r>
            <a:r>
              <a:rPr lang="en-US" sz="1500" b="1" dirty="0">
                <a:solidFill>
                  <a:srgbClr val="4B5563"/>
                </a:solidFill>
                <a:latin typeface="IBM Plex Sans" pitchFamily="34" charset="0"/>
                <a:ea typeface="IBM Plex Sans" pitchFamily="34" charset="-122"/>
                <a:cs typeface="IBM Plex Sans" pitchFamily="34" charset="-120"/>
              </a:rPr>
              <a:t>endpoint de RDS,1433</a:t>
            </a:r>
            <a:r>
              <a:rPr lang="en-US" sz="1500" dirty="0">
                <a:solidFill>
                  <a:srgbClr val="4B5563"/>
                </a:solidFill>
                <a:latin typeface="IBM Plex Sans" pitchFamily="34" charset="0"/>
                <a:ea typeface="IBM Plex Sans" pitchFamily="34" charset="-122"/>
                <a:cs typeface="IBM Plex Sans" pitchFamily="34" charset="-120"/>
              </a:rPr>
              <a:t> · Autenticación: SQL Server con usuario admin.</a:t>
            </a:r>
            <a:endParaRPr lang="en-US" sz="1500" dirty="0"/>
          </a:p>
        </p:txBody>
      </p:sp>
      <p:pic>
        <p:nvPicPr>
          <p:cNvPr id="20" name="Image 3" descr="UTN Facultad Regional Córdoba">    </p:cNvPr>
          <p:cNvPicPr>
            <a:picLocks noChangeAspect="1"/>
          </p:cNvPicPr>
          <p:nvPr/>
        </p:nvPicPr>
        <p:blipFill>
          <a:blip r:embed="rId4"/>
          <a:srcRect l="-216" r="-216" t="0" b="0"/>
          <a:stretch/>
        </p:blipFill>
        <p:spPr>
          <a:xfrm>
            <a:off x="10248900" y="190500"/>
            <a:ext cx="1130300" cy="444500"/>
          </a:xfrm>
          <a:prstGeom prst="rect">
            <a:avLst/>
          </a:prstGeom>
        </p:spPr>
      </p:pic>
      <p:sp>
        <p:nvSpPr>
          <p:cNvPr id="21" name="Text 15"/>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22" name="Text 1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3 · Implementación · Expone: Vera</a:t>
            </a:r>
            <a:endParaRPr lang="en-US" sz="1200" dirty="0"/>
          </a:p>
        </p:txBody>
      </p:sp>
      <p:sp>
        <p:nvSpPr>
          <p:cNvPr id="23"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3 · Conexión remota</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Conexión desde SSMS al Endpoint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13421"/>
          <a:ext cx="7835900" cy="1796355"/>
        </p:xfrm>
        <a:graphic>
          <a:graphicData uri="http://schemas.openxmlformats.org/drawingml/2006/table">
            <a:tbl>
              <a:tblPr/>
              <a:tblGrid>
                <a:gridCol w="3134360"/>
                <a:gridCol w="4701540"/>
              </a:tblGrid>
              <a:tr h="359271">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Campo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c>
                  <a:txBody>
                    <a:bodyPr/>
                    <a:lstStyle/>
                    <a:p>
                      <a:pPr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Valor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1F2937"/>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Tipo de servidor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Database Engine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Nombre del servidor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endpoint-de-RDS,1433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Autenticación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SQL Server Authentication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Inicio de sesión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c>
                  <a:txBody>
                    <a:bodyPr/>
                    <a:lstStyle/>
                    <a:p>
                      <a:pPr indent="0" marL="0">
                        <a:lnSpc>
                          <a:spcPts val="1820"/>
                        </a:lnSpc>
                        <a:buNone/>
                      </a:pPr>
                      <a:r>
                        <a:rPr lang="en-US" sz="1300" dirty="0">
                          <a:solidFill>
                            <a:srgbClr val="1F2937"/>
                          </a:solidFill>
                          <a:latin typeface="IBM Plex Sans" pitchFamily="34" charset="0"/>
                          <a:ea typeface="IBM Plex Sans" pitchFamily="34" charset="-122"/>
                          <a:cs typeface="IBM Plex Sans" pitchFamily="34" charset="-120"/>
                        </a:rPr>
                        <a:t>admin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ED0D3"/>
                      </a:solidFill>
                      <a:prstDash val="solid"/>
                      <a:round/>
                      <a:headEnd type="none" w="med" len="med"/>
                      <a:tailEnd type="none" w="med" len="med"/>
                    </a:lnL>
                    <a:lnR w="12700" cap="flat" cmpd="sng" algn="ctr">
                      <a:solidFill>
                        <a:srgbClr val="CED0D3"/>
                      </a:solidFill>
                      <a:prstDash val="solid"/>
                      <a:round/>
                      <a:headEnd type="none" w="med" len="med"/>
                      <a:tailEnd type="none" w="med" len="med"/>
                    </a:lnR>
                    <a:lnT w="12700" cap="flat" cmpd="sng" algn="ctr">
                      <a:solidFill>
                        <a:srgbClr val="CED0D3"/>
                      </a:solidFill>
                      <a:prstDash val="solid"/>
                      <a:round/>
                      <a:headEnd type="none" w="med" len="med"/>
                      <a:tailEnd type="none" w="med" len="med"/>
                    </a:lnT>
                    <a:lnB w="12700" cap="flat" cmpd="sng" algn="ctr">
                      <a:solidFill>
                        <a:srgbClr val="CED0D3"/>
                      </a:solidFill>
                      <a:prstDash val="solid"/>
                      <a:round/>
                      <a:headEnd type="none" w="med" len="med"/>
                      <a:tailEnd type="none" w="med" len="med"/>
                    </a:lnB>
                    <a:solidFill>
                      <a:srgbClr val="F3F4F6"/>
                    </a:solidFill>
                  </a:tcPr>
                </a:tc>
              </a:tr>
            </a:tbl>
          </a:graphicData>
        </a:graphic>
      </p:graphicFrame>
      <p:pic>
        <p:nvPicPr>
          <p:cNvPr id="5" name="Image 0" descr="Cuadro de conexión de SSMS">    </p:cNvPr>
          <p:cNvPicPr>
            <a:picLocks noChangeAspect="1"/>
          </p:cNvPicPr>
          <p:nvPr/>
        </p:nvPicPr>
        <p:blipFill>
          <a:blip r:embed="rId1"/>
          <a:srcRect l="0" r="0" t="-121" b="-121"/>
          <a:stretch/>
        </p:blipFill>
        <p:spPr>
          <a:xfrm>
            <a:off x="8864600" y="1826121"/>
            <a:ext cx="2501900" cy="3530600"/>
          </a:xfrm>
          <a:prstGeom prst="rect">
            <a:avLst/>
          </a:prstGeom>
        </p:spPr>
      </p:pic>
      <p:sp>
        <p:nvSpPr>
          <p:cNvPr id="6" name="Shape 2"/>
          <p:cNvSpPr/>
          <p:nvPr/>
        </p:nvSpPr>
        <p:spPr>
          <a:xfrm>
            <a:off x="8858250" y="1819771"/>
            <a:ext cx="2514600" cy="3543300"/>
          </a:xfrm>
          <a:prstGeom prst="rect">
            <a:avLst/>
          </a:prstGeom>
          <a:noFill/>
          <a:ln w="12700">
            <a:solidFill>
              <a:srgbClr val="D1D5DB"/>
            </a:solidFill>
            <a:prstDash val="solid"/>
          </a:ln>
        </p:spPr>
      </p:sp>
      <p:sp>
        <p:nvSpPr>
          <p:cNvPr id="7" name="Text 3"/>
          <p:cNvSpPr/>
          <p:nvPr/>
        </p:nvSpPr>
        <p:spPr>
          <a:xfrm>
            <a:off x="9108417" y="5432921"/>
            <a:ext cx="201416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Conexión a RDS desde SSMS</a:t>
            </a:r>
            <a:endParaRPr lang="en-US" sz="1200" dirty="0"/>
          </a:p>
        </p:txBody>
      </p:sp>
      <p:pic>
        <p:nvPicPr>
          <p:cNvPr id="8"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9" name="Text 4"/>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10"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3 · Implementación · Expone: Vera</a:t>
            </a:r>
            <a:endParaRPr lang="en-US" sz="1200" dirty="0"/>
          </a:p>
        </p:txBody>
      </p:sp>
      <p:sp>
        <p:nvSpPr>
          <p:cNvPr id="11"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3 · Script Transact-SQL (1 de 2)</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Base de datos y tabla de monitoreo</a:t>
            </a:r>
            <a:endParaRPr lang="en-US" sz="3200" dirty="0"/>
          </a:p>
        </p:txBody>
      </p:sp>
      <p:sp>
        <p:nvSpPr>
          <p:cNvPr id="4" name="Shape 2"/>
          <p:cNvSpPr/>
          <p:nvPr/>
        </p:nvSpPr>
        <p:spPr>
          <a:xfrm>
            <a:off x="819150" y="1819771"/>
            <a:ext cx="6088360" cy="4015879"/>
          </a:xfrm>
          <a:prstGeom prst="roundRect">
            <a:avLst>
              <a:gd name="adj" fmla="val 2372"/>
            </a:avLst>
          </a:prstGeom>
          <a:solidFill>
            <a:srgbClr val="F3F4F6"/>
          </a:solidFill>
          <a:ln w="12700">
            <a:solidFill>
              <a:srgbClr val="D1D5DB"/>
            </a:solidFill>
            <a:prstDash val="solid"/>
          </a:ln>
        </p:spPr>
      </p:sp>
      <p:sp>
        <p:nvSpPr>
          <p:cNvPr id="5" name="Text 3"/>
          <p:cNvSpPr/>
          <p:nvPr/>
        </p:nvSpPr>
        <p:spPr>
          <a:xfrm>
            <a:off x="1028700" y="2121098"/>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CREATE DATABASE Planta_Industrial;</a:t>
            </a:r>
            <a:endParaRPr lang="en-US" sz="1200" dirty="0"/>
          </a:p>
        </p:txBody>
      </p:sp>
      <p:sp>
        <p:nvSpPr>
          <p:cNvPr id="6" name="Text 4"/>
          <p:cNvSpPr/>
          <p:nvPr/>
        </p:nvSpPr>
        <p:spPr>
          <a:xfrm>
            <a:off x="1028700" y="2334419"/>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GO</a:t>
            </a:r>
            <a:endParaRPr lang="en-US" sz="1200" dirty="0"/>
          </a:p>
        </p:txBody>
      </p:sp>
      <p:sp>
        <p:nvSpPr>
          <p:cNvPr id="7" name="Text 5"/>
          <p:cNvSpPr/>
          <p:nvPr/>
        </p:nvSpPr>
        <p:spPr>
          <a:xfrm>
            <a:off x="1028700" y="2547739"/>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USE Planta_Industrial;</a:t>
            </a:r>
            <a:endParaRPr lang="en-US" sz="1200" dirty="0"/>
          </a:p>
        </p:txBody>
      </p:sp>
      <p:sp>
        <p:nvSpPr>
          <p:cNvPr id="8" name="Text 6"/>
          <p:cNvSpPr/>
          <p:nvPr/>
        </p:nvSpPr>
        <p:spPr>
          <a:xfrm>
            <a:off x="1028700" y="2761059"/>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GO</a:t>
            </a:r>
            <a:endParaRPr lang="en-US" sz="1200" dirty="0"/>
          </a:p>
        </p:txBody>
      </p:sp>
      <p:sp>
        <p:nvSpPr>
          <p:cNvPr id="9" name="Text 7"/>
          <p:cNvSpPr/>
          <p:nvPr/>
        </p:nvSpPr>
        <p:spPr>
          <a:xfrm>
            <a:off x="1028700" y="2974380"/>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CREATE TABLE dbo.Eventos_Planta (</a:t>
            </a:r>
            <a:endParaRPr lang="en-US" sz="1200" dirty="0"/>
          </a:p>
        </p:txBody>
      </p:sp>
      <p:sp>
        <p:nvSpPr>
          <p:cNvPr id="10" name="Text 8"/>
          <p:cNvSpPr/>
          <p:nvPr/>
        </p:nvSpPr>
        <p:spPr>
          <a:xfrm>
            <a:off x="1028700" y="3187700"/>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id_evento INT IDENTITY(1,1) PRIMARY KEY,</a:t>
            </a:r>
            <a:endParaRPr lang="en-US" sz="1200" dirty="0"/>
          </a:p>
        </p:txBody>
      </p:sp>
      <p:sp>
        <p:nvSpPr>
          <p:cNvPr id="11" name="Text 9"/>
          <p:cNvSpPr/>
          <p:nvPr/>
        </p:nvSpPr>
        <p:spPr>
          <a:xfrm>
            <a:off x="1028700" y="3401020"/>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fecha_hora DATETIME2(0) NOT NULL</a:t>
            </a:r>
            <a:endParaRPr lang="en-US" sz="1200" dirty="0"/>
          </a:p>
        </p:txBody>
      </p:sp>
      <p:sp>
        <p:nvSpPr>
          <p:cNvPr id="12" name="Text 10"/>
          <p:cNvSpPr/>
          <p:nvPr/>
        </p:nvSpPr>
        <p:spPr>
          <a:xfrm>
            <a:off x="1028700" y="3614341"/>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DEFAULT SYSDATETIME(),</a:t>
            </a:r>
            <a:endParaRPr lang="en-US" sz="1200" dirty="0"/>
          </a:p>
        </p:txBody>
      </p:sp>
      <p:sp>
        <p:nvSpPr>
          <p:cNvPr id="13" name="Text 11"/>
          <p:cNvSpPr/>
          <p:nvPr/>
        </p:nvSpPr>
        <p:spPr>
          <a:xfrm>
            <a:off x="1028700" y="3827661"/>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equipo VARCHAR(50) NOT NULL,</a:t>
            </a:r>
            <a:endParaRPr lang="en-US" sz="1200" dirty="0"/>
          </a:p>
        </p:txBody>
      </p:sp>
      <p:sp>
        <p:nvSpPr>
          <p:cNvPr id="14" name="Text 12"/>
          <p:cNvSpPr/>
          <p:nvPr/>
        </p:nvSpPr>
        <p:spPr>
          <a:xfrm>
            <a:off x="1028700" y="4040981"/>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tipo_evento VARCHAR(20) NOT NULL</a:t>
            </a:r>
            <a:endParaRPr lang="en-US" sz="1200" dirty="0"/>
          </a:p>
        </p:txBody>
      </p:sp>
      <p:sp>
        <p:nvSpPr>
          <p:cNvPr id="15" name="Text 13"/>
          <p:cNvSpPr/>
          <p:nvPr/>
        </p:nvSpPr>
        <p:spPr>
          <a:xfrm>
            <a:off x="1028700" y="4254302"/>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CHECK (tipo_evento IN ('FALLA','ALARMA',</a:t>
            </a:r>
            <a:endParaRPr lang="en-US" sz="1200" dirty="0"/>
          </a:p>
        </p:txBody>
      </p:sp>
      <p:sp>
        <p:nvSpPr>
          <p:cNvPr id="16" name="Text 14"/>
          <p:cNvSpPr/>
          <p:nvPr/>
        </p:nvSpPr>
        <p:spPr>
          <a:xfrm>
            <a:off x="1028700" y="4467622"/>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'PRODUCCION','MANTENIMIENTO')),</a:t>
            </a:r>
            <a:endParaRPr lang="en-US" sz="1200" dirty="0"/>
          </a:p>
        </p:txBody>
      </p:sp>
      <p:sp>
        <p:nvSpPr>
          <p:cNvPr id="17" name="Text 15"/>
          <p:cNvSpPr/>
          <p:nvPr/>
        </p:nvSpPr>
        <p:spPr>
          <a:xfrm>
            <a:off x="1028700" y="4680942"/>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descripcion VARCHAR(200) NULL,</a:t>
            </a:r>
            <a:endParaRPr lang="en-US" sz="1200" dirty="0"/>
          </a:p>
        </p:txBody>
      </p:sp>
      <p:sp>
        <p:nvSpPr>
          <p:cNvPr id="18" name="Text 16"/>
          <p:cNvSpPr/>
          <p:nvPr/>
        </p:nvSpPr>
        <p:spPr>
          <a:xfrm>
            <a:off x="1028700" y="4894263"/>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valor DECIMAL(10,2) NULL,</a:t>
            </a:r>
            <a:endParaRPr lang="en-US" sz="1200" dirty="0"/>
          </a:p>
        </p:txBody>
      </p:sp>
      <p:sp>
        <p:nvSpPr>
          <p:cNvPr id="19" name="Text 17"/>
          <p:cNvSpPr/>
          <p:nvPr/>
        </p:nvSpPr>
        <p:spPr>
          <a:xfrm>
            <a:off x="1028700" y="5107583"/>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unidad VARCHAR(10) NULL</a:t>
            </a:r>
            <a:endParaRPr lang="en-US" sz="1200" dirty="0"/>
          </a:p>
        </p:txBody>
      </p:sp>
      <p:sp>
        <p:nvSpPr>
          <p:cNvPr id="20" name="Text 18"/>
          <p:cNvSpPr/>
          <p:nvPr/>
        </p:nvSpPr>
        <p:spPr>
          <a:xfrm>
            <a:off x="1028700" y="5320903"/>
            <a:ext cx="5839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a:t>
            </a:r>
            <a:endParaRPr lang="en-US" sz="1200" dirty="0"/>
          </a:p>
        </p:txBody>
      </p:sp>
      <p:sp>
        <p:nvSpPr>
          <p:cNvPr id="21" name="Shape 19"/>
          <p:cNvSpPr/>
          <p:nvPr/>
        </p:nvSpPr>
        <p:spPr>
          <a:xfrm>
            <a:off x="7123410" y="1819771"/>
            <a:ext cx="4249440" cy="4015879"/>
          </a:xfrm>
          <a:prstGeom prst="roundRect">
            <a:avLst>
              <a:gd name="adj" fmla="val 2372"/>
            </a:avLst>
          </a:prstGeom>
          <a:solidFill>
            <a:srgbClr val="FFFFFF"/>
          </a:solidFill>
          <a:ln w="12700">
            <a:solidFill>
              <a:srgbClr val="D1D5DB"/>
            </a:solidFill>
            <a:prstDash val="solid"/>
          </a:ln>
        </p:spPr>
      </p:sp>
      <p:sp>
        <p:nvSpPr>
          <p:cNvPr id="22" name="Text 20"/>
          <p:cNvSpPr/>
          <p:nvPr/>
        </p:nvSpPr>
        <p:spPr>
          <a:xfrm>
            <a:off x="7358360" y="2054721"/>
            <a:ext cx="389292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937"/>
                </a:solidFill>
                <a:latin typeface="IBM Plex Sans" pitchFamily="34" charset="0"/>
                <a:ea typeface="IBM Plex Sans" pitchFamily="34" charset="-122"/>
                <a:cs typeface="IBM Plex Sans" pitchFamily="34" charset="-120"/>
              </a:rPr>
              <a:t>Qué explicar</a:t>
            </a:r>
            <a:endParaRPr lang="en-US" sz="1700" dirty="0"/>
          </a:p>
        </p:txBody>
      </p:sp>
      <p:sp>
        <p:nvSpPr>
          <p:cNvPr id="23" name="Text 21"/>
          <p:cNvSpPr/>
          <p:nvPr/>
        </p:nvSpPr>
        <p:spPr>
          <a:xfrm>
            <a:off x="7358360" y="2402681"/>
            <a:ext cx="3892926" cy="1411883"/>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CREATE es DDL: define estructuras</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IDENTITY numera cada evento</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PRIMARY KEY: fila única</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DEFAULT sella la fecha</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CHECK valida los tipos</a:t>
            </a:r>
            <a:endParaRPr lang="en-US" sz="1300" dirty="0"/>
          </a:p>
          <a:p>
            <a:pPr algn="l" marL="342900" indent="-342900">
              <a:lnSpc>
                <a:spcPts val="1820"/>
              </a:lnSpc>
              <a:buSzPct val="100000"/>
              <a:buChar char="•"/>
            </a:pPr>
            <a:r>
              <a:rPr lang="en-US" sz="1300" dirty="0">
                <a:solidFill>
                  <a:srgbClr val="4B5563"/>
                </a:solidFill>
                <a:latin typeface="IBM Plex Sans" pitchFamily="34" charset="0"/>
                <a:ea typeface="IBM Plex Sans" pitchFamily="34" charset="-122"/>
                <a:cs typeface="IBM Plex Sans" pitchFamily="34" charset="-120"/>
              </a:rPr>
              <a:t>GO separa lotes en SSMS</a:t>
            </a:r>
            <a:endParaRPr lang="en-US" sz="1300" dirty="0"/>
          </a:p>
        </p:txBody>
      </p:sp>
      <p:pic>
        <p:nvPicPr>
          <p:cNvPr id="24"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25" name="Text 22"/>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26" name="Text 2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3 · Implementación · Expone: Vera</a:t>
            </a:r>
            <a:endParaRPr lang="en-US" sz="1200" dirty="0"/>
          </a:p>
        </p:txBody>
      </p:sp>
      <p:sp>
        <p:nvSpPr>
          <p:cNvPr id="27"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Bloque 3 · Script Transact-SQL (2 de 2)</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Carga de datos y consulta</a:t>
            </a:r>
            <a:endParaRPr lang="en-US" sz="3200" dirty="0"/>
          </a:p>
        </p:txBody>
      </p:sp>
      <p:sp>
        <p:nvSpPr>
          <p:cNvPr id="4" name="Shape 2"/>
          <p:cNvSpPr/>
          <p:nvPr/>
        </p:nvSpPr>
        <p:spPr>
          <a:xfrm>
            <a:off x="819150" y="1819771"/>
            <a:ext cx="6286500" cy="4015879"/>
          </a:xfrm>
          <a:prstGeom prst="roundRect">
            <a:avLst>
              <a:gd name="adj" fmla="val 2372"/>
            </a:avLst>
          </a:prstGeom>
          <a:solidFill>
            <a:srgbClr val="F3F4F6"/>
          </a:solidFill>
          <a:ln w="12700">
            <a:solidFill>
              <a:srgbClr val="D1D5DB"/>
            </a:solidFill>
            <a:prstDash val="solid"/>
          </a:ln>
        </p:spPr>
      </p:sp>
      <p:sp>
        <p:nvSpPr>
          <p:cNvPr id="5" name="Text 3"/>
          <p:cNvSpPr/>
          <p:nvPr/>
        </p:nvSpPr>
        <p:spPr>
          <a:xfrm>
            <a:off x="1028700" y="2547739"/>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INSERT INTO dbo.Eventos_Planta</a:t>
            </a:r>
            <a:endParaRPr lang="en-US" sz="1200" dirty="0"/>
          </a:p>
        </p:txBody>
      </p:sp>
      <p:sp>
        <p:nvSpPr>
          <p:cNvPr id="6" name="Text 4"/>
          <p:cNvSpPr/>
          <p:nvPr/>
        </p:nvSpPr>
        <p:spPr>
          <a:xfrm>
            <a:off x="1028700" y="2761059"/>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  (equipo, tipo_evento, descripcion, valor, unidad)</a:t>
            </a:r>
            <a:endParaRPr lang="en-US" sz="1200" dirty="0"/>
          </a:p>
        </p:txBody>
      </p:sp>
      <p:sp>
        <p:nvSpPr>
          <p:cNvPr id="7" name="Text 5"/>
          <p:cNvSpPr/>
          <p:nvPr/>
        </p:nvSpPr>
        <p:spPr>
          <a:xfrm>
            <a:off x="1028700" y="2974380"/>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VALUES</a:t>
            </a:r>
            <a:endParaRPr lang="en-US" sz="1200" dirty="0"/>
          </a:p>
        </p:txBody>
      </p:sp>
      <p:sp>
        <p:nvSpPr>
          <p:cNvPr id="8" name="Text 6"/>
          <p:cNvSpPr/>
          <p:nvPr/>
        </p:nvSpPr>
        <p:spPr>
          <a:xfrm>
            <a:off x="1028700" y="3187700"/>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('Motor M-101','FALLA','Sobrecorriente',18.50,'A'),</a:t>
            </a:r>
            <a:endParaRPr lang="en-US" sz="1200" dirty="0"/>
          </a:p>
        </p:txBody>
      </p:sp>
      <p:sp>
        <p:nvSpPr>
          <p:cNvPr id="9" name="Text 7"/>
          <p:cNvSpPr/>
          <p:nvPr/>
        </p:nvSpPr>
        <p:spPr>
          <a:xfrm>
            <a:off x="1028700" y="3401020"/>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('Bomba B-201','ALARMA','Presion alta',7.20,'bar'),</a:t>
            </a:r>
            <a:endParaRPr lang="en-US" sz="1200" dirty="0"/>
          </a:p>
        </p:txBody>
      </p:sp>
      <p:sp>
        <p:nvSpPr>
          <p:cNvPr id="10" name="Text 8"/>
          <p:cNvSpPr/>
          <p:nvPr/>
        </p:nvSpPr>
        <p:spPr>
          <a:xfrm>
            <a:off x="1028700" y="3614341"/>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('Linea 1','PRODUCCION','Piezas del turno',1250,'un'),</a:t>
            </a:r>
            <a:endParaRPr lang="en-US" sz="1200" dirty="0"/>
          </a:p>
        </p:txBody>
      </p:sp>
      <p:sp>
        <p:nvSpPr>
          <p:cNvPr id="11" name="Text 9"/>
          <p:cNvSpPr/>
          <p:nvPr/>
        </p:nvSpPr>
        <p:spPr>
          <a:xfrm>
            <a:off x="1028700" y="3827661"/>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('Horno H-301','ALARMA','Temperatura alta',412,'C');</a:t>
            </a:r>
            <a:endParaRPr lang="en-US" sz="1200" dirty="0"/>
          </a:p>
        </p:txBody>
      </p:sp>
      <p:sp>
        <p:nvSpPr>
          <p:cNvPr id="12" name="Text 10"/>
          <p:cNvSpPr/>
          <p:nvPr/>
        </p:nvSpPr>
        <p:spPr>
          <a:xfrm>
            <a:off x="1028700" y="4040981"/>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GO</a:t>
            </a:r>
            <a:endParaRPr lang="en-US" sz="1200" dirty="0"/>
          </a:p>
        </p:txBody>
      </p:sp>
      <p:sp>
        <p:nvSpPr>
          <p:cNvPr id="13" name="Text 11"/>
          <p:cNvSpPr/>
          <p:nvPr/>
        </p:nvSpPr>
        <p:spPr>
          <a:xfrm>
            <a:off x="1028700" y="4254302"/>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SELECT * FROM dbo.Eventos_Planta;</a:t>
            </a:r>
            <a:endParaRPr lang="en-US" sz="1200" dirty="0"/>
          </a:p>
        </p:txBody>
      </p:sp>
      <p:sp>
        <p:nvSpPr>
          <p:cNvPr id="14" name="Text 12"/>
          <p:cNvSpPr/>
          <p:nvPr/>
        </p:nvSpPr>
        <p:spPr>
          <a:xfrm>
            <a:off x="1028700" y="4467622"/>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SELECT tipo_evento, COUNT(*) AS cantidad</a:t>
            </a:r>
            <a:endParaRPr lang="en-US" sz="1200" dirty="0"/>
          </a:p>
        </p:txBody>
      </p:sp>
      <p:sp>
        <p:nvSpPr>
          <p:cNvPr id="15" name="Text 13"/>
          <p:cNvSpPr/>
          <p:nvPr/>
        </p:nvSpPr>
        <p:spPr>
          <a:xfrm>
            <a:off x="1028700" y="4680942"/>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FROM dbo.Eventos_Planta</a:t>
            </a:r>
            <a:endParaRPr lang="en-US" sz="1200" dirty="0"/>
          </a:p>
        </p:txBody>
      </p:sp>
      <p:sp>
        <p:nvSpPr>
          <p:cNvPr id="16" name="Text 14"/>
          <p:cNvSpPr/>
          <p:nvPr/>
        </p:nvSpPr>
        <p:spPr>
          <a:xfrm>
            <a:off x="1028700" y="4894263"/>
            <a:ext cx="60434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2937"/>
                </a:solidFill>
                <a:latin typeface="JetBrains Mono" pitchFamily="34" charset="0"/>
                <a:ea typeface="JetBrains Mono" pitchFamily="34" charset="-122"/>
                <a:cs typeface="JetBrains Mono" pitchFamily="34" charset="-120"/>
              </a:rPr>
              <a:t>GROUP BY tipo_evento;</a:t>
            </a:r>
            <a:endParaRPr lang="en-US" sz="1200" dirty="0"/>
          </a:p>
        </p:txBody>
      </p:sp>
      <p:pic>
        <p:nvPicPr>
          <p:cNvPr id="17" name="Image 0" descr="Resultado del SELECT en SSMS">    </p:cNvPr>
          <p:cNvPicPr>
            <a:picLocks noChangeAspect="1"/>
          </p:cNvPicPr>
          <p:nvPr/>
        </p:nvPicPr>
        <p:blipFill>
          <a:blip r:embed="rId1"/>
          <a:srcRect l="-284" r="-284" t="0" b="0"/>
          <a:stretch/>
        </p:blipFill>
        <p:spPr>
          <a:xfrm>
            <a:off x="7327900" y="1826121"/>
            <a:ext cx="4038600" cy="2178050"/>
          </a:xfrm>
          <a:prstGeom prst="rect">
            <a:avLst/>
          </a:prstGeom>
        </p:spPr>
      </p:pic>
      <p:sp>
        <p:nvSpPr>
          <p:cNvPr id="18" name="Shape 15"/>
          <p:cNvSpPr/>
          <p:nvPr/>
        </p:nvSpPr>
        <p:spPr>
          <a:xfrm>
            <a:off x="7321550" y="1819771"/>
            <a:ext cx="4051300" cy="2190750"/>
          </a:xfrm>
          <a:prstGeom prst="rect">
            <a:avLst/>
          </a:prstGeom>
          <a:noFill/>
          <a:ln w="12700">
            <a:solidFill>
              <a:srgbClr val="D1D5DB"/>
            </a:solidFill>
            <a:prstDash val="solid"/>
          </a:ln>
        </p:spPr>
      </p:sp>
      <p:sp>
        <p:nvSpPr>
          <p:cNvPr id="19" name="Text 16"/>
          <p:cNvSpPr/>
          <p:nvPr/>
        </p:nvSpPr>
        <p:spPr>
          <a:xfrm>
            <a:off x="7651575" y="4080371"/>
            <a:ext cx="339124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Resultado real en SSMS: 4 filas y conteo por tipo</a:t>
            </a:r>
            <a:endParaRPr lang="en-US" sz="1200" dirty="0"/>
          </a:p>
        </p:txBody>
      </p:sp>
      <p:pic>
        <p:nvPicPr>
          <p:cNvPr id="20" name="Image 1" descr="UTN Facultad Regional Córdoba">    </p:cNvPr>
          <p:cNvPicPr>
            <a:picLocks noChangeAspect="1"/>
          </p:cNvPicPr>
          <p:nvPr/>
        </p:nvPicPr>
        <p:blipFill>
          <a:blip r:embed="rId2"/>
          <a:srcRect l="-216" r="-216" t="0" b="0"/>
          <a:stretch/>
        </p:blipFill>
        <p:spPr>
          <a:xfrm>
            <a:off x="10248900" y="190500"/>
            <a:ext cx="1130300" cy="444500"/>
          </a:xfrm>
          <a:prstGeom prst="rect">
            <a:avLst/>
          </a:prstGeom>
        </p:spPr>
      </p:pic>
      <p:sp>
        <p:nvSpPr>
          <p:cNvPr id="21" name="Text 17"/>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22" name="Text 1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Bloque 3 · Implementación · Expone: Vera</a:t>
            </a:r>
            <a:endParaRPr lang="en-US" sz="1200" dirty="0"/>
          </a:p>
        </p:txBody>
      </p:sp>
      <p:sp>
        <p:nvSpPr>
          <p:cNvPr id="23"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79"/>
                </a:solidFill>
                <a:latin typeface="IBM Plex Sans" pitchFamily="34" charset="0"/>
                <a:ea typeface="IBM Plex Sans" pitchFamily="34" charset="-122"/>
                <a:cs typeface="IBM Plex Sans" pitchFamily="34" charset="-120"/>
              </a:rPr>
              <a:t>Cierre</a:t>
            </a:r>
            <a:endParaRPr lang="en-US" sz="1400" dirty="0"/>
          </a:p>
        </p:txBody>
      </p:sp>
      <p:sp>
        <p:nvSpPr>
          <p:cNvPr id="3" name="Text 1"/>
          <p:cNvSpPr/>
          <p:nvPr/>
        </p:nvSpPr>
        <p:spPr>
          <a:xfrm>
            <a:off x="812800" y="1137841"/>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IBM Plex Sans" pitchFamily="34" charset="0"/>
                <a:ea typeface="IBM Plex Sans" pitchFamily="34" charset="-122"/>
                <a:cs typeface="IBM Plex Sans" pitchFamily="34" charset="-120"/>
              </a:rPr>
              <a:t>Conclusiones</a:t>
            </a:r>
            <a:endParaRPr lang="en-US" sz="3200" dirty="0"/>
          </a:p>
        </p:txBody>
      </p:sp>
      <p:sp>
        <p:nvSpPr>
          <p:cNvPr id="4" name="Text 2"/>
          <p:cNvSpPr/>
          <p:nvPr/>
        </p:nvSpPr>
        <p:spPr>
          <a:xfrm>
            <a:off x="812800" y="1813421"/>
            <a:ext cx="10883392" cy="1739900"/>
          </a:xfrm>
          <a:prstGeom prst="rect">
            <a:avLst/>
          </a:prstGeom>
          <a:noFill/>
          <a:ln/>
        </p:spPr>
        <p:txBody>
          <a:bodyPr wrap="square" lIns="0" tIns="0" rIns="0" bIns="0" rtlCol="0" anchor="t">
            <a:normAutofit/>
          </a:bodyPr>
          <a:lstStyle/>
          <a:p>
            <a:pPr algn="l" marL="342900" indent="-342900">
              <a:lnSpc>
                <a:spcPts val="2700"/>
              </a:lnSpc>
              <a:buSzPct val="100000"/>
              <a:buChar char="•"/>
            </a:pPr>
            <a:r>
              <a:rPr lang="en-US" sz="1800" dirty="0">
                <a:solidFill>
                  <a:srgbClr val="1F2937"/>
                </a:solidFill>
                <a:latin typeface="IBM Plex Sans" pitchFamily="34" charset="0"/>
                <a:ea typeface="IBM Plex Sans" pitchFamily="34" charset="-122"/>
                <a:cs typeface="IBM Plex Sans" pitchFamily="34" charset="-120"/>
              </a:rPr>
              <a:t>La virtualización permite armar y probar servidores sin hardware dedicado.</a:t>
            </a:r>
            <a:endParaRPr lang="en-US" sz="1800" dirty="0"/>
          </a:p>
          <a:p>
            <a:pPr algn="l" marL="342900" indent="-342900">
              <a:lnSpc>
                <a:spcPts val="2700"/>
              </a:lnSpc>
              <a:buSzPct val="100000"/>
              <a:buChar char="•"/>
            </a:pPr>
            <a:r>
              <a:rPr lang="en-US" sz="1800" dirty="0">
                <a:solidFill>
                  <a:srgbClr val="1F2937"/>
                </a:solidFill>
                <a:latin typeface="IBM Plex Sans" pitchFamily="34" charset="0"/>
                <a:ea typeface="IBM Plex Sans" pitchFamily="34" charset="-122"/>
                <a:cs typeface="IBM Plex Sans" pitchFamily="34" charset="-120"/>
              </a:rPr>
              <a:t>Windows Server y Ubuntu Server cubren distintos roles de una planta.</a:t>
            </a:r>
            <a:endParaRPr lang="en-US" sz="1800" dirty="0"/>
          </a:p>
          <a:p>
            <a:pPr algn="l" marL="342900" indent="-342900">
              <a:lnSpc>
                <a:spcPts val="2700"/>
              </a:lnSpc>
              <a:buSzPct val="100000"/>
              <a:buChar char="•"/>
            </a:pPr>
            <a:r>
              <a:rPr lang="en-US" sz="1800" dirty="0">
                <a:solidFill>
                  <a:srgbClr val="1F2937"/>
                </a:solidFill>
                <a:latin typeface="IBM Plex Sans" pitchFamily="34" charset="0"/>
                <a:ea typeface="IBM Plex Sans" pitchFamily="34" charset="-122"/>
                <a:cs typeface="IBM Plex Sans" pitchFamily="34" charset="-120"/>
              </a:rPr>
              <a:t>La nube ofrece escala y respaldo, pero sigue exigiendo seguridad de acceso.</a:t>
            </a:r>
            <a:endParaRPr lang="en-US" sz="1800" dirty="0"/>
          </a:p>
          <a:p>
            <a:pPr algn="l" marL="342900" indent="-342900">
              <a:lnSpc>
                <a:spcPts val="2700"/>
              </a:lnSpc>
              <a:buSzPct val="100000"/>
              <a:buChar char="•"/>
            </a:pPr>
            <a:r>
              <a:rPr lang="en-US" sz="1800" dirty="0">
                <a:solidFill>
                  <a:srgbClr val="1F2937"/>
                </a:solidFill>
                <a:latin typeface="IBM Plex Sans" pitchFamily="34" charset="0"/>
                <a:ea typeface="IBM Plex Sans" pitchFamily="34" charset="-122"/>
                <a:cs typeface="IBM Plex Sans" pitchFamily="34" charset="-120"/>
              </a:rPr>
              <a:t>Un Security Group ajustado a Mi IP reduce la superficie de ataque.</a:t>
            </a:r>
            <a:endParaRPr lang="en-US" sz="1800" dirty="0"/>
          </a:p>
          <a:p>
            <a:pPr algn="l" marL="342900" indent="-342900">
              <a:lnSpc>
                <a:spcPts val="2700"/>
              </a:lnSpc>
              <a:buSzPct val="100000"/>
              <a:buChar char="•"/>
            </a:pPr>
            <a:r>
              <a:rPr lang="en-US" sz="1800" dirty="0">
                <a:solidFill>
                  <a:srgbClr val="1F2937"/>
                </a:solidFill>
                <a:latin typeface="IBM Plex Sans" pitchFamily="34" charset="0"/>
                <a:ea typeface="IBM Plex Sans" pitchFamily="34" charset="-122"/>
                <a:cs typeface="IBM Plex Sans" pitchFamily="34" charset="-120"/>
              </a:rPr>
              <a:t>RDS y SQL nos dan una base de eventos lista para un histórico industrial.</a:t>
            </a:r>
            <a:endParaRPr lang="en-US" sz="1800" dirty="0"/>
          </a:p>
        </p:txBody>
      </p:sp>
      <p:pic>
        <p:nvPicPr>
          <p:cNvPr id="5"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6" name="Text 3"/>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
        <p:nvSpPr>
          <p:cNvPr id="7" name="Text 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Informática Industrial · Parcial 1 · Cierre · Expone: Vera</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2298799"/>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F2937"/>
                </a:solidFill>
                <a:latin typeface="IBM Plex Sans" pitchFamily="34" charset="0"/>
                <a:ea typeface="IBM Plex Sans" pitchFamily="34" charset="-122"/>
                <a:cs typeface="IBM Plex Sans" pitchFamily="34" charset="-120"/>
              </a:rPr>
              <a:t>Preguntas</a:t>
            </a:r>
            <a:endParaRPr lang="en-US" sz="5600" dirty="0"/>
          </a:p>
        </p:txBody>
      </p:sp>
      <p:sp>
        <p:nvSpPr>
          <p:cNvPr id="3" name="Text 1"/>
          <p:cNvSpPr/>
          <p:nvPr/>
        </p:nvSpPr>
        <p:spPr>
          <a:xfrm>
            <a:off x="812800" y="327412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4B5563"/>
                </a:solidFill>
                <a:latin typeface="IBM Plex Sans" pitchFamily="34" charset="0"/>
                <a:ea typeface="IBM Plex Sans" pitchFamily="34" charset="-122"/>
                <a:cs typeface="IBM Plex Sans" pitchFamily="34" charset="-120"/>
              </a:rPr>
              <a:t>Gracias por su atención</a:t>
            </a:r>
            <a:endParaRPr lang="en-US" sz="2000" dirty="0"/>
          </a:p>
        </p:txBody>
      </p:sp>
      <p:sp>
        <p:nvSpPr>
          <p:cNvPr id="4" name="Text 2"/>
          <p:cNvSpPr/>
          <p:nvPr/>
        </p:nvSpPr>
        <p:spPr>
          <a:xfrm>
            <a:off x="812800" y="53189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937"/>
                </a:solidFill>
                <a:latin typeface="IBM Plex Sans" pitchFamily="34" charset="0"/>
                <a:ea typeface="IBM Plex Sans" pitchFamily="34" charset="-122"/>
                <a:cs typeface="IBM Plex Sans" pitchFamily="34" charset="-120"/>
              </a:rPr>
              <a:t>Emiliano Casali · Juan Gustavo Del Soto · Facundo José Ferrero · Cristian Gonzalo Vera</a:t>
            </a:r>
            <a:endParaRPr lang="en-US" sz="14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Informática Industrial · UTN FRC</a:t>
            </a:r>
            <a:endParaRPr lang="en-US" sz="1400" dirty="0"/>
          </a:p>
        </p:txBody>
      </p:sp>
      <p:pic>
        <p:nvPicPr>
          <p:cNvPr id="6" name="Image 0" descr="UTN Facultad Regional Córdoba">    </p:cNvPr>
          <p:cNvPicPr>
            <a:picLocks noChangeAspect="1"/>
          </p:cNvPicPr>
          <p:nvPr/>
        </p:nvPicPr>
        <p:blipFill>
          <a:blip r:embed="rId1"/>
          <a:srcRect l="-216" r="-216" t="0" b="0"/>
          <a:stretch/>
        </p:blipFill>
        <p:spPr>
          <a:xfrm>
            <a:off x="10248900" y="190500"/>
            <a:ext cx="1130300" cy="444500"/>
          </a:xfrm>
          <a:prstGeom prst="rect">
            <a:avLst/>
          </a:prstGeom>
        </p:spPr>
      </p:pic>
      <p:sp>
        <p:nvSpPr>
          <p:cNvPr id="7" name="Text 4"/>
          <p:cNvSpPr/>
          <p:nvPr/>
        </p:nvSpPr>
        <p:spPr>
          <a:xfrm>
            <a:off x="6197600" y="330200"/>
            <a:ext cx="392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Informática Industrial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Parcial 1 Informática Industrial – Defensa</dc:title>
  <dc:subject>PptxGenJS Presentation</dc:subject>
  <dc:creator>PptxGenJS</dc:creator>
  <cp:lastModifiedBy>PptxGenJS</cp:lastModifiedBy>
  <cp:revision>1</cp:revision>
  <dcterms:created xsi:type="dcterms:W3CDTF">2026-09-21T23:42:17Z</dcterms:created>
  <dcterms:modified xsi:type="dcterms:W3CDTF">2026-09-21T23:42:17Z</dcterms:modified>
</cp:coreProperties>
</file>