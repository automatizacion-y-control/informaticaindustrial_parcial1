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819553-E575-42BB-B10E-89E7FBAC79C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Buenas tardes. Somos Emiliano Casali, Gustavo Del Soto, Facundo Ferrero y Cristian Vera. Presentamos el Parcial 1: cómo pasamos de servidores virtuales en nuestra PC a una base de datos en la nube, cuidando la seguridad en cada capa.</a:t>
            </a:r>
          </a:p>
        </p:txBody>
      </p:sp>
      <p:sp>
        <p:nvSpPr>
          <p:cNvPr id="6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18E1ED-F1B1-4B1B-90E2-1B17828E78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Tres bloques: infraestructura local y virtualización con los TP1 y TP2; migración a la nube y seguridad en AWS; y la implementación con SQL Server en RDS. Empezamos con los conceptos.</a:t>
            </a:r>
          </a:p>
        </p:txBody>
      </p:sp>
      <p:sp>
        <p:nvSpPr>
          <p:cNvPr id="6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31738B-2C5B-466E-86F2-F712D8929C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 servidor de aplicación industrial es el equipo, físico o virtual, que corre sin parar los servicios de los que depende la planta: SCADA, historiador, servidor OPC y base de datos. Lo que lo distingue de una PC es que se dimensiona para funcionar las 24 horas: disponibilidad, permisos, respaldos y monitoreo. En nuestros trabajos ese rol lo cumplen Windows Server, Ubuntu Server y después SQL Server en la nube.</a:t>
            </a:r>
          </a:p>
        </p:txBody>
      </p:sp>
      <p:sp>
        <p:nvSpPr>
          <p:cNvPr id="6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4E34BE-8551-4B6B-AB0C-3101AB249A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Virtualizar es correr varios servidores sobre un mismo equipo físico. El hipervisor tipo 1 corre directo sobre el hardware, como ESXi o Hyper-V, y es el de producción. El tipo 2 corre sobre un sistema operativo, como VMware Workstation, y es el que usamos en laboratorio. Ventajas: consolidar servidores, aislarlos, tomar snapshots y recuperarse de desastres. La consigna nombra VirtualBox; usamos VMware Workstation, que es el mismo tipo de hipervisor.</a:t>
            </a:r>
          </a:p>
        </p:txBody>
      </p:sp>
      <p:sp>
        <p:nvSpPr>
          <p:cNvPr id="6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D1EB61-F275-44B9-8E34-8665C21547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el TP1 instalamos Windows Server 2022 Standard con escritorio, con 4 GB de RAM, sobre el mínimo de 2, y un disco de 40 GB. Red Bridged, nombre SRV-IND01 y zona horaria de Buenos Aires. Elegimos la edición con escritorio porque el trabajo pide usar el Administrador del servidor, que se ve en la captura.</a:t>
            </a:r>
          </a:p>
        </p:txBody>
      </p:sp>
      <p:sp>
        <p:nvSpPr>
          <p:cNvPr id="6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0084E8-12AA-4530-915D-AD1600EA79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la izquierda, el resumen del asistente de VMware: 2 procesadores, 4 GB, disco de 40 y red Bridged. A la derecha, Administración de discos: el sistema ocupa casi todo el disco, como pide la consigna.</a:t>
            </a:r>
          </a:p>
        </p:txBody>
      </p:sp>
      <p:sp>
        <p:nvSpPr>
          <p:cNvPr id="6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2CEB0C-EEAC-4EA7-A77C-93F813EDBF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Tuvimos un problema real: con Bridged la VM quedó con IP 169.254, sin DHCP, porque VMnet0 estaba vinculada al adaptador Wi‑Fi Direct virtual y no a la placa física. Lo resolvimos en el Virtual Network Editor, asociando VMnet0 a la placa Intel real. Resultado: IP 192.168.1.xxx y ping a internet sin pérdidas. Le paso la palabra a Gustavo.</a:t>
            </a:r>
          </a:p>
        </p:txBody>
      </p:sp>
      <p:sp>
        <p:nvSpPr>
          <p:cNvPr id="6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C2B722-2E01-4AE8-9922-883573C2A2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rol tiene una razón industrial. IIS es el servidor web: aloja portales, HMI web y reportes. ASP.NET permite páginas dinámicas, como un tablero de producción. ISAPI y la consola completan IIS. .NET 3.5 es por compatibilidad con software viejo y 4.8 para el actual. WCF integra sistemas, por ejemplo SCADA con una base de datos. Y archivos e impresión sirven para compartir recetas y registros.</a:t>
            </a:r>
          </a:p>
        </p:txBody>
      </p:sp>
      <p:sp>
        <p:nvSpPr>
          <p:cNvPr id="6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D088A0-E65D-4BD0-8D50-DEACEF33C0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es el listado de características instaladas por PowerShell. Un detalle: .NET 3.5 no se descarga directo, hubo que montar la ISO y usar la carpeta sxs.</a:t>
            </a:r>
          </a:p>
        </p:txBody>
      </p:sp>
      <p:sp>
        <p:nvSpPr>
          <p:cNvPr id="6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65DB2E-AEDD-42D9-B35C-149FB4EF61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comprobar: abrimos IIS desde la PC con la IP de la VM, y test.aspx muestra el nombre del servidor, lo que prueba que ASP.NET ejecuta código. Además tomamos snapshots en tres hitos para poder volver atrás.</a:t>
            </a:r>
          </a:p>
        </p:txBody>
      </p:sp>
      <p:sp>
        <p:nvSpPr>
          <p:cNvPr id="6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CED1F2-1A03-491D-AE94-FCE9F32503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 el TP2 instalamos Ubuntu Server LTS, con 4 GB de RAM, 40 GB de disco y red Bridged; tomó IP por DHCP. Creamos un usuario con sudo en lugar de trabajar como root, por seguridad y trazabilidad. Elegimos una versión LTS por el soporte a largo plazo.</a:t>
            </a:r>
          </a:p>
        </p:txBody>
      </p:sp>
      <p:sp>
        <p:nvSpPr>
          <p:cNvPr id="6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8D41C9-AE0A-4E4B-9D45-44D2A61D94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instalador deja el volumen raíz con la mitad del espacio: el disco tenía 40 GB, pero / solo 19. Lo extendimos con lvextend y agrandamos el sistema de archivos con resize2fs, en caliente y sin reiniciar. Ahora df muestra 38 GB en la raíz, usando todo el espacio asignado.</a:t>
            </a:r>
          </a:p>
        </p:txBody>
      </p:sp>
      <p:sp>
        <p:nvSpPr>
          <p:cNvPr id="6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710EAF-4159-4812-8F2C-8B7D889F1C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ip a muestra la interfaz con la dirección de la red local y el ping a 8.8.8.8 responde sin pérdidas. Cambiamos la zona horaria a Córdoba y el nombre a srv‑ubuntu01. Hicimos ping desde la PC a la VM, en ambos sentidos. Dos problemas: el teclado de la consola no coincidía, así que usamos SSH; y google.com por IPv6 no responde porque nuestra red no enruta IPv6, con IPv4 funciona.</a:t>
            </a:r>
          </a:p>
        </p:txBody>
      </p:sp>
      <p:sp>
        <p:nvSpPr>
          <p:cNvPr id="6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8F2F20-1313-41AB-B515-6EB97CB8DB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Todo el TP2 se hizo por línea de comandos. Sin interfaz gráfica se gastan menos recursos, hay menos superficie de ataque y se administra por SSH y scripts. Acá vemos la conexión desde PowerShell, ya con el prompt srv‑ubuntu01.</a:t>
            </a:r>
          </a:p>
        </p:txBody>
      </p:sp>
      <p:sp>
        <p:nvSpPr>
          <p:cNvPr id="6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95333F-A948-4010-A0C6-E977ADAC5B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Cerramos con la red. En Bridged la VM pide IP al mismo router que la PC, así que otros equipos, como un HMI o un PLC, la pueden alcanzar. En NAT queda oculta detrás del anfitrión: sale a internet pero nadie la ve. En Host‑only solo la ve el anfitrión. Un servidor de planta tiene que ser alcanzable, por eso Bridged. Le paso la palabra a Facundo.</a:t>
            </a:r>
          </a:p>
        </p:txBody>
      </p:sp>
      <p:sp>
        <p:nvSpPr>
          <p:cNvPr id="70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09C169-F8E7-4F60-A592-A4D437D1D5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Migrar a la nube es usar infraestructura como servicio y pagar por uso. Ventajas: pasamos de inversión inicial a gasto por uso, escalamos en minutos y tenemos respaldo y alta disponibilidad. Impactos: dependemos de internet, la latencia hace que el control en tiempo real siga local, los costos pueden variar y crece la superficie de ataque.</a:t>
            </a:r>
          </a:p>
        </p:txBody>
      </p:sp>
      <p:sp>
        <p:nvSpPr>
          <p:cNvPr id="70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B1694-0AB8-4A96-BDB3-8D9F88144E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Creamos la cuenta con email y contraseña, elegimos el plan gratuito, cargamos los datos de contacto y una tarjeta, verificamos por email y teléfono e ingresamos a la consola. Trabajamos en la región us‑east‑1. Tapamos el identificador de la cuenta. Correspondería activar MFA.</a:t>
            </a:r>
          </a:p>
        </p:txBody>
      </p:sp>
      <p:sp>
        <p:nvSpPr>
          <p:cNvPr id="70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5AD60F-D305-4ED1-8395-BC416C4109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AWS se ocupa de la seguridad de la nube: datacenters, hardware, red física y parches del motor. Nosotros, de la seguridad en la nube: quién se conecta, contraseñas, reglas del Security Group y datos.</a:t>
            </a:r>
          </a:p>
        </p:txBody>
      </p:sp>
      <p:sp>
        <p:nvSpPr>
          <p:cNvPr id="71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61DF3A-CADC-4883-9DFA-5F021C642E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Security Group es un firewall virtual. Creamos una regla de entrada: tipo MSSQL, TCP, puerto 1433, origen Mi IP, que la consola completa como /32, una sola dirección. El 1433 es el puerto por defecto de SQL Server: sin abrirlo no hay conexión, y restringido a nuestra IP solo nuestro equipo puede intentarlo.</a:t>
            </a:r>
          </a:p>
        </p:txBody>
      </p:sp>
      <p:sp>
        <p:nvSpPr>
          <p:cNvPr id="71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BCB6AE-1762-41CF-98E1-704E9625C7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Elegimos Mi IP por mínimo privilegio: solo nuestro equipo puede intentar conectarse. Con 0.0.0.0/0 la base queda publicada a todo Internet, donde hay escáneres que barren el 1433: fuerza bruta contra el usuario admin, explotación de vulnerabilidades y ransomware. En una planta real la base va en subred privada, con acceso por VPN; para el laboratorio usamos acceso público solo por necesidad. Le paso la palabra a Cristian.</a:t>
            </a:r>
          </a:p>
        </p:txBody>
      </p:sp>
      <p:sp>
        <p:nvSpPr>
          <p:cNvPr id="71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A8DAF4-78CA-4967-8C58-610DD35B51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Usamos Amazon RDS, un servicio administrado: AWS se encarga del sistema, parches y backups. Motor SQL Server, edición Express, Single‑AZ porque en laboratorio no necesitamos alta disponibilidad; usuario maestro anonimizado, 20 GiB de disco, puerto 1433 y acceso público, filtrado por el Security Group.</a:t>
            </a:r>
          </a:p>
        </p:txBody>
      </p:sp>
      <p:sp>
        <p:nvSpPr>
          <p:cNvPr id="71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2C8698-636C-4627-825D-E72BD0F550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instancia ya está en estado Disponible, clase db.t3.micro en us‑east‑1. El endpoint y el puerto son los datos para conectarnos; en la presentación se muestran anonimizados.</a:t>
            </a:r>
          </a:p>
        </p:txBody>
      </p:sp>
      <p:sp>
        <p:nvSpPr>
          <p:cNvPr id="72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DABE68-4825-4CDE-9B97-8910FA335D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esquema junta los bloques: nuestra PC con SSMS sale a internet, pasa por el Security Group, que filtra origen y puerto, y solo entonces llega a RDS.</a:t>
            </a:r>
          </a:p>
        </p:txBody>
      </p:sp>
      <p:sp>
        <p:nvSpPr>
          <p:cNvPr id="72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780B9-7AC7-4139-897D-E488A4FD36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SSMS conectado al endpoint de AWS: nombre del servidor, coma y puerto 1433; es coma, no dos puntos. Autenticación de SQL Server con el usuario admin anonimizado. Es la prueba de que Security Group e instancia funcionan.</a:t>
            </a:r>
          </a:p>
        </p:txBody>
      </p:sp>
      <p:sp>
        <p:nvSpPr>
          <p:cNvPr id="72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B063E4-B855-4F41-91C7-1267BC59A7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script tiene tres partes. Primero, CREATE DATABASE Planta_Industrial; GO es un separador de SSMS, no T‑SQL. Segundo, la tabla Eventos_Planta: id con IDENTITY y clave primaria, fecha con DEFAULT SYSDATETIME, y tipo_evento con un CHECK que solo admite falla, alarma, producción o mantenimiento. Es DDL: define la estructura.</a:t>
            </a:r>
          </a:p>
        </p:txBody>
      </p:sp>
      <p:sp>
        <p:nvSpPr>
          <p:cNvPr id="73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396F55-970C-4B79-9F71-73B4B83FA1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Tercero, cuatro INSERT de eventos de planta: falla del motor M‑101, alarma de presión en la bomba B‑201, producción de la línea 1 y alarma de temperatura del horno H‑301. El primer SELECT muestra todo y el segundo agrupa con GROUP BY y cuenta por tipo. Acá está el resultado real: cuatro filas y el conteo. INSERT y SELECT son DML.</a:t>
            </a:r>
          </a:p>
        </p:txBody>
      </p:sp>
      <p:sp>
        <p:nvSpPr>
          <p:cNvPr id="73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D68789-20C5-41CD-B769-93900BF297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Cinco ideas. La virtualización permite armar y probar servidores sin hardware dedicado. Windows Server y Ubuntu cubren distintos roles de planta. La nube da escala y respaldo pero exige seguridad de acceso. Un Security Group con Mi IP reduce la superficie de ataque. Y RDS con SQL nos da una base de eventos lista para un histórico industrial.</a:t>
            </a:r>
          </a:p>
        </p:txBody>
      </p:sp>
      <p:sp>
        <p:nvSpPr>
          <p:cNvPr id="73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91604A-7DE6-4053-8D40-0332BAFB07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Muchas gracias. Quedamos a disposición para las preguntas; tenemos la consola de AWS, SSMS y las VM abiertas para mostrar lo que pidan.</a:t>
            </a:r>
          </a:p>
        </p:txBody>
      </p:sp>
      <p:sp>
        <p:nvSpPr>
          <p:cNvPr id="74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EADB56-5CFC-4F60-B402-7B7E2191C5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Source Sans 3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/mnt/data/redesign_assets/utn_frc_logo.png"/>
          <p:cNvPicPr/>
          <p:nvPr/>
        </p:nvPicPr>
        <p:blipFill>
          <a:blip r:embed="rId3"/>
          <a:stretch/>
        </p:blipFill>
        <p:spPr>
          <a:xfrm>
            <a:off x="738000" y="475560"/>
            <a:ext cx="1897920" cy="74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Text 0"/>
          <p:cNvSpPr/>
          <p:nvPr/>
        </p:nvSpPr>
        <p:spPr>
          <a:xfrm>
            <a:off x="612720" y="1444680"/>
            <a:ext cx="31086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Parcial N° 1 · Proyecto integrador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1"/>
          <p:cNvSpPr/>
          <p:nvPr/>
        </p:nvSpPr>
        <p:spPr>
          <a:xfrm>
            <a:off x="567000" y="1874520"/>
            <a:ext cx="36572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Libre Baskerville"/>
                <a:ea typeface="Libre Baskerville"/>
              </a:rPr>
              <a:t>De local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rgbClr val="FFFFFF"/>
                </a:solidFill>
                <a:effectLst/>
                <a:uFillTx/>
                <a:latin typeface="Libre Baskerville"/>
                <a:ea typeface="Libre Baskerville"/>
              </a:rPr>
              <a:t>a la nube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03360" y="3493080"/>
            <a:ext cx="329148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Infraestructura informática industrial: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servidores virtuales y base de datos en AWS</a:t>
            </a:r>
            <a:endParaRPr lang="en-US" sz="14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03360" y="4800600"/>
            <a:ext cx="32000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Informática Industrial · UTN FRC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Licenciatura en Automatización y Control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03360" y="5504760"/>
            <a:ext cx="356580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Casali, Emiliano · 210237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Del Soto, Juan Gustavo · 421822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Ferrero, Facundo José · 420841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Vera, Cristian Gonzalo · 420581</a:t>
            </a:r>
            <a:endParaRPr lang="en-US" sz="9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892040" y="1828800"/>
            <a:ext cx="17370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SERVIDORES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VIRTUALES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7086600" y="1828800"/>
            <a:ext cx="17370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SEGURIDAD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DE ACCESO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9281160" y="1828800"/>
            <a:ext cx="1737000" cy="822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BASE DE DATOS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EN AWS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6629400" y="2240280"/>
            <a:ext cx="429480" cy="360"/>
          </a:xfrm>
          <a:prstGeom prst="line">
            <a:avLst/>
          </a:prstGeom>
          <a:ln w="3175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8823960" y="2240280"/>
            <a:ext cx="429480" cy="360"/>
          </a:xfrm>
          <a:prstGeom prst="line">
            <a:avLst/>
          </a:prstGeom>
          <a:ln w="3175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526280" y="2944440"/>
            <a:ext cx="2422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VMware · Windows Server · Ubuntu Server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6629400" y="324612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Security Group · puerto 1433 · Mi IP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9098280" y="2944440"/>
            <a:ext cx="2148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RDS · SQL Server Express · T‑SQL</a:t>
            </a:r>
            <a:endParaRPr lang="en-US" sz="9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4892040" y="4572000"/>
            <a:ext cx="6126120" cy="712800"/>
          </a:xfrm>
          <a:prstGeom prst="rect">
            <a:avLst/>
          </a:prstGeom>
          <a:solidFill>
            <a:srgbClr val="0F2E49"/>
          </a:solidFill>
          <a:ln w="1905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HILO CONDUCTOR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evolución de infraestructura local a servicios administrados, cuidando la seguridad en cada capa.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ESTRUCTURA DE LA DEFENSA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Recorrido en tres bloques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presentación avanza desde el laboratorio local hasta la base de datos administrada.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Introducción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Casali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02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685800" y="214884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188720" y="2103120"/>
            <a:ext cx="2834280" cy="71280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local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y virtualización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280160" y="2971800"/>
            <a:ext cx="2605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Servidor industrial · TP1 Windows Server · TP2 Ubuntu Server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142160" y="2459520"/>
            <a:ext cx="52128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4453200" y="214884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4956120" y="2103120"/>
            <a:ext cx="2834280" cy="71280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Migración a la nube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y ciberseguridad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5047560" y="2971800"/>
            <a:ext cx="2605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Cloud · cuenta AWS · Security Group · puerto 1433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7909560" y="2459520"/>
            <a:ext cx="52092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8220600" y="2148840"/>
            <a:ext cx="502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8723520" y="2103120"/>
            <a:ext cx="2834280" cy="71280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Implementación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y demostración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8814960" y="2971800"/>
            <a:ext cx="2605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RDS SQL Server · SSMS · script Transact‑SQL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3"/>
          <p:cNvSpPr/>
          <p:nvPr/>
        </p:nvSpPr>
        <p:spPr>
          <a:xfrm>
            <a:off x="1234440" y="4005000"/>
            <a:ext cx="1168200" cy="3142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Turno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4"/>
          <p:cNvSpPr/>
          <p:nvPr/>
        </p:nvSpPr>
        <p:spPr>
          <a:xfrm>
            <a:off x="2403000" y="4005000"/>
            <a:ext cx="2142000" cy="3142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Quién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5"/>
          <p:cNvSpPr/>
          <p:nvPr/>
        </p:nvSpPr>
        <p:spPr>
          <a:xfrm>
            <a:off x="4545360" y="4005000"/>
            <a:ext cx="1557720" cy="3142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Láminas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6103800" y="4005000"/>
            <a:ext cx="4869000" cy="3142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Tema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7"/>
          <p:cNvSpPr/>
          <p:nvPr/>
        </p:nvSpPr>
        <p:spPr>
          <a:xfrm>
            <a:off x="1234440" y="4319640"/>
            <a:ext cx="116820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8"/>
          <p:cNvSpPr/>
          <p:nvPr/>
        </p:nvSpPr>
        <p:spPr>
          <a:xfrm>
            <a:off x="2403000" y="4319640"/>
            <a:ext cx="214200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Emiliano Casali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9"/>
          <p:cNvSpPr/>
          <p:nvPr/>
        </p:nvSpPr>
        <p:spPr>
          <a:xfrm>
            <a:off x="4545360" y="4319640"/>
            <a:ext cx="155772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1–7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0"/>
          <p:cNvSpPr/>
          <p:nvPr/>
        </p:nvSpPr>
        <p:spPr>
          <a:xfrm>
            <a:off x="6103800" y="4319640"/>
            <a:ext cx="486900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Apertura, servidor, virtualización y TP1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1234440" y="4634280"/>
            <a:ext cx="116820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2403000" y="4634280"/>
            <a:ext cx="214200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Gustavo Del Soto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3"/>
          <p:cNvSpPr/>
          <p:nvPr/>
        </p:nvSpPr>
        <p:spPr>
          <a:xfrm>
            <a:off x="4545360" y="4634280"/>
            <a:ext cx="155772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8–15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6103800" y="4634280"/>
            <a:ext cx="486900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Roles, IIS, TP2, CLI y red Bridged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5"/>
          <p:cNvSpPr/>
          <p:nvPr/>
        </p:nvSpPr>
        <p:spPr>
          <a:xfrm>
            <a:off x="1234440" y="4948560"/>
            <a:ext cx="116820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3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6"/>
          <p:cNvSpPr/>
          <p:nvPr/>
        </p:nvSpPr>
        <p:spPr>
          <a:xfrm>
            <a:off x="2403000" y="4948560"/>
            <a:ext cx="214200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Facundo Ferrero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7"/>
          <p:cNvSpPr/>
          <p:nvPr/>
        </p:nvSpPr>
        <p:spPr>
          <a:xfrm>
            <a:off x="4545360" y="4948560"/>
            <a:ext cx="155772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16–20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8"/>
          <p:cNvSpPr/>
          <p:nvPr/>
        </p:nvSpPr>
        <p:spPr>
          <a:xfrm>
            <a:off x="6103800" y="4948560"/>
            <a:ext cx="4869000" cy="3142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Nube, Security Group y riesgo del 1433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9"/>
          <p:cNvSpPr/>
          <p:nvPr/>
        </p:nvSpPr>
        <p:spPr>
          <a:xfrm>
            <a:off x="1234440" y="5263200"/>
            <a:ext cx="116820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4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0"/>
          <p:cNvSpPr/>
          <p:nvPr/>
        </p:nvSpPr>
        <p:spPr>
          <a:xfrm>
            <a:off x="2403000" y="5263200"/>
            <a:ext cx="214200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Cristian Vera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1"/>
          <p:cNvSpPr/>
          <p:nvPr/>
        </p:nvSpPr>
        <p:spPr>
          <a:xfrm>
            <a:off x="4545360" y="5263200"/>
            <a:ext cx="155772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21–28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2"/>
          <p:cNvSpPr/>
          <p:nvPr/>
        </p:nvSpPr>
        <p:spPr>
          <a:xfrm>
            <a:off x="6103800" y="5263200"/>
            <a:ext cx="4869000" cy="3142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RDS, SSMS, T‑SQL y cierre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CONCEPTO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Servidor de aplicación industrial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Equipo físico o virtual que ejecuta continuamente los servicios de los que depende la planta.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Casali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03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822960" y="2286000"/>
            <a:ext cx="21484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SCADA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Supervisión y control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822960" y="3840480"/>
            <a:ext cx="21484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Historiador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Datos y tendencias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9235440" y="2286000"/>
            <a:ext cx="21484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Servidor OPC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Enlace con PLC/campo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9235440" y="3840480"/>
            <a:ext cx="214848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Base de datos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Eventos y trazabilidad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572000" y="2944440"/>
            <a:ext cx="3017160" cy="95976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SERVIDOR DE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APLICACIÓN INDUSTRIAL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2971800" y="2642400"/>
            <a:ext cx="1581840" cy="65844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18"/>
          <p:cNvSpPr/>
          <p:nvPr/>
        </p:nvSpPr>
        <p:spPr>
          <a:xfrm flipV="1">
            <a:off x="2971800" y="3602520"/>
            <a:ext cx="1581840" cy="585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9"/>
          <p:cNvSpPr/>
          <p:nvPr/>
        </p:nvSpPr>
        <p:spPr>
          <a:xfrm flipV="1">
            <a:off x="7589520" y="2642400"/>
            <a:ext cx="1627560" cy="65844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0"/>
          <p:cNvSpPr/>
          <p:nvPr/>
        </p:nvSpPr>
        <p:spPr>
          <a:xfrm>
            <a:off x="7589520" y="3602520"/>
            <a:ext cx="1627560" cy="585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3566160" y="5102280"/>
            <a:ext cx="5074560" cy="566640"/>
          </a:xfrm>
          <a:prstGeom prst="rect">
            <a:avLst/>
          </a:prstGeom>
          <a:solidFill>
            <a:srgbClr val="F5F6F8"/>
          </a:solidFill>
          <a:ln w="1905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CONDICIÓN 24/7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Disponibilidad, permisos, respaldos y monitoreo lo diferencian de una PC común.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CONCEPTO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Virtualización en producción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Correr varios servidores sobre un mismo equipo físico para aislar, consolidar y recuperar más rápido.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Casali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04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777240" y="2148840"/>
            <a:ext cx="484596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TIPO 1 · BARE METAL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Corre directo sobre el hardware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Ej.: VMware ESXi · Hyper‑V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Uso típico: producción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3"/>
          <p:cNvSpPr/>
          <p:nvPr/>
        </p:nvSpPr>
        <p:spPr>
          <a:xfrm>
            <a:off x="6565320" y="2148840"/>
            <a:ext cx="4845960" cy="13255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TIPO 2 · HOSTED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Corre sobre un sistema operativo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Ej.: VMware Workstation · VirtualBox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Uso típico: laboratorio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4"/>
          <p:cNvSpPr/>
          <p:nvPr/>
        </p:nvSpPr>
        <p:spPr>
          <a:xfrm>
            <a:off x="5650920" y="2816280"/>
            <a:ext cx="859320" cy="360"/>
          </a:xfrm>
          <a:prstGeom prst="line">
            <a:avLst/>
          </a:prstGeom>
          <a:ln w="2794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5"/>
          <p:cNvSpPr/>
          <p:nvPr/>
        </p:nvSpPr>
        <p:spPr>
          <a:xfrm>
            <a:off x="1325880" y="4160520"/>
            <a:ext cx="2388600" cy="29592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Ventaja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3714840" y="4160520"/>
            <a:ext cx="7166160" cy="29592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Impacto industrial</a:t>
            </a:r>
            <a:endParaRPr lang="en-US" sz="9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1325880" y="4456800"/>
            <a:ext cx="2388600" cy="2959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Consolidación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8"/>
          <p:cNvSpPr/>
          <p:nvPr/>
        </p:nvSpPr>
        <p:spPr>
          <a:xfrm>
            <a:off x="3714840" y="4456800"/>
            <a:ext cx="7166160" cy="2959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Menos hardware físico y mejor uso de recursos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9"/>
          <p:cNvSpPr/>
          <p:nvPr/>
        </p:nvSpPr>
        <p:spPr>
          <a:xfrm>
            <a:off x="1325880" y="4753080"/>
            <a:ext cx="2388600" cy="2959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Aislamiento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0"/>
          <p:cNvSpPr/>
          <p:nvPr/>
        </p:nvSpPr>
        <p:spPr>
          <a:xfrm>
            <a:off x="3714840" y="4753080"/>
            <a:ext cx="7166160" cy="2959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Cada servidor queda separado del resto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1"/>
          <p:cNvSpPr/>
          <p:nvPr/>
        </p:nvSpPr>
        <p:spPr>
          <a:xfrm>
            <a:off x="1325880" y="5049360"/>
            <a:ext cx="2388600" cy="2959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Snapshots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2"/>
          <p:cNvSpPr/>
          <p:nvPr/>
        </p:nvSpPr>
        <p:spPr>
          <a:xfrm>
            <a:off x="3714840" y="5049360"/>
            <a:ext cx="7166160" cy="2959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Volver atrás ante errores de configuración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3"/>
          <p:cNvSpPr/>
          <p:nvPr/>
        </p:nvSpPr>
        <p:spPr>
          <a:xfrm>
            <a:off x="1325880" y="5345640"/>
            <a:ext cx="2388600" cy="2959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Recuperación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4"/>
          <p:cNvSpPr/>
          <p:nvPr/>
        </p:nvSpPr>
        <p:spPr>
          <a:xfrm>
            <a:off x="3714840" y="5345640"/>
            <a:ext cx="7166160" cy="2959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Migración de VMs y menor tiempo de parada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5"/>
          <p:cNvSpPr/>
          <p:nvPr/>
        </p:nvSpPr>
        <p:spPr>
          <a:xfrm>
            <a:off x="1325880" y="5806440"/>
            <a:ext cx="9555120" cy="41112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ACLARACIÓN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consigna mencionaba VirtualBox; VMware Workstation cumple el mismo rol de hipervisor tipo 2.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DEFENSA DEL TP1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Windows Server 2022 en VMware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Servidor en funcionamiento y parámetros principales de la VM.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Casali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05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/mnt/data/redesign_assets/09_cp10_administrador_servidor.png"/>
          <p:cNvPicPr/>
          <p:nvPr/>
        </p:nvPicPr>
        <p:blipFill>
          <a:blip r:embed="rId3"/>
          <a:srcRect t="11595" b="11595"/>
          <a:stretch/>
        </p:blipFill>
        <p:spPr>
          <a:xfrm>
            <a:off x="749880" y="1856160"/>
            <a:ext cx="598896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12"/>
          <p:cNvSpPr/>
          <p:nvPr/>
        </p:nvSpPr>
        <p:spPr>
          <a:xfrm>
            <a:off x="749880" y="5376600"/>
            <a:ext cx="5988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CP10 · Administrador del servidor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7086600" y="1965960"/>
            <a:ext cx="1615320" cy="39600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Hipervisor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8702280" y="1965960"/>
            <a:ext cx="2635920" cy="39600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VMware Workstation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7086600" y="2362320"/>
            <a:ext cx="161532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Sistema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8702280" y="2362320"/>
            <a:ext cx="263592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Windows Server 2022 Standard · Desktop Experience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7086600" y="2758320"/>
            <a:ext cx="1615320" cy="39600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Memoria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8702280" y="2758320"/>
            <a:ext cx="2635920" cy="39600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4 GB (mínimo pedido: 2 GB)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7086600" y="3154680"/>
            <a:ext cx="161532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Disco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8702280" y="3154680"/>
            <a:ext cx="263592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40 GB · partición completa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7086600" y="3551040"/>
            <a:ext cx="1615320" cy="39600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Red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8702280" y="3551040"/>
            <a:ext cx="2635920" cy="39600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Bridged (VMnet0)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3"/>
          <p:cNvSpPr/>
          <p:nvPr/>
        </p:nvSpPr>
        <p:spPr>
          <a:xfrm>
            <a:off x="7086600" y="3947040"/>
            <a:ext cx="161532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Nombre / hora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4"/>
          <p:cNvSpPr/>
          <p:nvPr/>
        </p:nvSpPr>
        <p:spPr>
          <a:xfrm>
            <a:off x="8702280" y="3947040"/>
            <a:ext cx="2635920" cy="39600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SRV‑IND01 · Argentina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5"/>
          <p:cNvSpPr/>
          <p:nvPr/>
        </p:nvSpPr>
        <p:spPr>
          <a:xfrm>
            <a:off x="7086600" y="4754880"/>
            <a:ext cx="4251600" cy="65808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DECISIÓN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 eligió edición con escritorio porque el TP pide usar el Administrador del servidor.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Creación de la VM y partición del disco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 verifica la configuración del asistente y el uso del disco completo.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Casali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06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0" descr="/mnt/data/redesign_assets/04_cp04_resumen_creacion_vm.png"/>
          <p:cNvPicPr/>
          <p:nvPr/>
        </p:nvPicPr>
        <p:blipFill>
          <a:blip r:embed="rId3"/>
          <a:srcRect t="21882" b="21882"/>
          <a:stretch/>
        </p:blipFill>
        <p:spPr>
          <a:xfrm>
            <a:off x="658440" y="1874520"/>
            <a:ext cx="516600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12"/>
          <p:cNvSpPr/>
          <p:nvPr/>
        </p:nvSpPr>
        <p:spPr>
          <a:xfrm>
            <a:off x="658440" y="5230440"/>
            <a:ext cx="5166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CP4 · Resumen del asistente (ruta personal oculta)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1" descr="/mnt/data/redesign_assets/10_cp11_administracion_discos.png"/>
          <p:cNvPicPr/>
          <p:nvPr/>
        </p:nvPicPr>
        <p:blipFill>
          <a:blip r:embed="rId4"/>
          <a:srcRect t="8812" b="8812"/>
          <a:stretch/>
        </p:blipFill>
        <p:spPr>
          <a:xfrm>
            <a:off x="6355080" y="1874520"/>
            <a:ext cx="516600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13"/>
          <p:cNvSpPr/>
          <p:nvPr/>
        </p:nvSpPr>
        <p:spPr>
          <a:xfrm>
            <a:off x="6355080" y="5230440"/>
            <a:ext cx="5166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CP11 · Administración de discos: 39,98 GB utilizados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1005840" y="5650920"/>
            <a:ext cx="2194200" cy="3470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2 CPU · 4 GB 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3429000" y="5650920"/>
            <a:ext cx="1828440" cy="3470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Disco 40 GB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6583680" y="5650920"/>
            <a:ext cx="1919880" cy="3470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Red Bridged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8732520" y="5650920"/>
            <a:ext cx="2559960" cy="3470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C: en NTFS usa el espacio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Red Bridged y conectividad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Problema real de red: VMnet0 apuntaba al adaptador equivocado.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Casali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07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749880" y="1965960"/>
            <a:ext cx="2331360" cy="9140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PROBLEMA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IP 169.254.xxx.xxx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Sin DHCP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3529440" y="1965960"/>
            <a:ext cx="2331360" cy="9140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CAUSA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VMnet0 → Wi‑Fi Direct virtual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6309360" y="1965960"/>
            <a:ext cx="2331360" cy="9140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CORRECCIÓN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VMnet0 → placa Intel real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9089280" y="1965960"/>
            <a:ext cx="2331360" cy="9140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RESULTADO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192.168.1.xxx · ping 0%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6"/>
          <p:cNvSpPr/>
          <p:nvPr/>
        </p:nvSpPr>
        <p:spPr>
          <a:xfrm>
            <a:off x="3090600" y="2423160"/>
            <a:ext cx="40212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7"/>
          <p:cNvSpPr/>
          <p:nvPr/>
        </p:nvSpPr>
        <p:spPr>
          <a:xfrm>
            <a:off x="5870160" y="2423160"/>
            <a:ext cx="40248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8650080" y="2423160"/>
            <a:ext cx="40248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Image 0" descr="/mnt/data/redesign_assets/12_cp22_vmnet0_bridged_wifi.png"/>
          <p:cNvPicPr/>
          <p:nvPr/>
        </p:nvPicPr>
        <p:blipFill>
          <a:blip r:embed="rId3"/>
          <a:srcRect t="27954" b="27954"/>
          <a:stretch/>
        </p:blipFill>
        <p:spPr>
          <a:xfrm>
            <a:off x="841320" y="3520440"/>
            <a:ext cx="4800240" cy="187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Text 19"/>
          <p:cNvSpPr/>
          <p:nvPr/>
        </p:nvSpPr>
        <p:spPr>
          <a:xfrm>
            <a:off x="841320" y="5504760"/>
            <a:ext cx="4800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CP22 · VMnet0 en modo Bridged hacia la placa Wi‑Fi física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1" descr="/mnt/data/redesign_assets/14_cp26_ping_vm_internet.png"/>
          <p:cNvPicPr/>
          <p:nvPr/>
        </p:nvPicPr>
        <p:blipFill>
          <a:blip r:embed="rId4"/>
          <a:srcRect t="13708" b="13708"/>
          <a:stretch/>
        </p:blipFill>
        <p:spPr>
          <a:xfrm>
            <a:off x="6446520" y="3520440"/>
            <a:ext cx="4800240" cy="187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20"/>
          <p:cNvSpPr/>
          <p:nvPr/>
        </p:nvSpPr>
        <p:spPr>
          <a:xfrm>
            <a:off x="6446520" y="5504760"/>
            <a:ext cx="4800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CP26 · IP local y ping a 8.8.8.8 sin pérdidas (datos ocultos)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DEFENSA DEL TP1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Roles instalados y para qué sirven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Cada componente instalado tiene una justificación en un entorno industrial.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08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822960" y="1847160"/>
            <a:ext cx="2534400" cy="44532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Componente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3"/>
          <p:cNvSpPr/>
          <p:nvPr/>
        </p:nvSpPr>
        <p:spPr>
          <a:xfrm>
            <a:off x="3357720" y="1847160"/>
            <a:ext cx="8026200" cy="44532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Justificación industrial</a:t>
            </a:r>
            <a:endParaRPr lang="en-US" sz="9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4"/>
          <p:cNvSpPr/>
          <p:nvPr/>
        </p:nvSpPr>
        <p:spPr>
          <a:xfrm>
            <a:off x="822960" y="2292840"/>
            <a:ext cx="25344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IIS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3357720" y="2292840"/>
            <a:ext cx="80262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Servidor web para portales, HMI web, reportes y APIs de planta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822960" y="2738520"/>
            <a:ext cx="2534400" cy="4453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ASP.NET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3357720" y="2738520"/>
            <a:ext cx="8026200" cy="4453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Páginas y servicios dinámicos: tableros de producción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822960" y="3184560"/>
            <a:ext cx="25344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ISAPI Extensions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9"/>
          <p:cNvSpPr/>
          <p:nvPr/>
        </p:nvSpPr>
        <p:spPr>
          <a:xfrm>
            <a:off x="3357720" y="3184560"/>
            <a:ext cx="80262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Extensión de IIS para aplicaciones industriales heredadas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0"/>
          <p:cNvSpPr/>
          <p:nvPr/>
        </p:nvSpPr>
        <p:spPr>
          <a:xfrm>
            <a:off x="822960" y="3630240"/>
            <a:ext cx="2534400" cy="4453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Consola de IIS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1"/>
          <p:cNvSpPr/>
          <p:nvPr/>
        </p:nvSpPr>
        <p:spPr>
          <a:xfrm>
            <a:off x="3357720" y="3630240"/>
            <a:ext cx="8026200" cy="4453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Administración gráfica de sitios, pools y certificados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2"/>
          <p:cNvSpPr/>
          <p:nvPr/>
        </p:nvSpPr>
        <p:spPr>
          <a:xfrm>
            <a:off x="822960" y="4075920"/>
            <a:ext cx="25344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.NET 3.5 / 4.8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3"/>
          <p:cNvSpPr/>
          <p:nvPr/>
        </p:nvSpPr>
        <p:spPr>
          <a:xfrm>
            <a:off x="3357720" y="4075920"/>
            <a:ext cx="80262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Compatibilidad con software heredado y aplicaciones actuales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24"/>
          <p:cNvSpPr/>
          <p:nvPr/>
        </p:nvSpPr>
        <p:spPr>
          <a:xfrm>
            <a:off x="822960" y="4521600"/>
            <a:ext cx="2534400" cy="4453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WCF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5"/>
          <p:cNvSpPr/>
          <p:nvPr/>
        </p:nvSpPr>
        <p:spPr>
          <a:xfrm>
            <a:off x="3357720" y="4521600"/>
            <a:ext cx="8026200" cy="4453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Comunicación entre SCADA, MES y bases de datos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6"/>
          <p:cNvSpPr/>
          <p:nvPr/>
        </p:nvSpPr>
        <p:spPr>
          <a:xfrm>
            <a:off x="822960" y="4967640"/>
            <a:ext cx="25344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Archivos e impresión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7"/>
          <p:cNvSpPr/>
          <p:nvPr/>
        </p:nvSpPr>
        <p:spPr>
          <a:xfrm>
            <a:off x="3357720" y="4967640"/>
            <a:ext cx="8026200" cy="4453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Recetas, registros, reportes e impresión de etiquetas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8"/>
          <p:cNvSpPr/>
          <p:nvPr/>
        </p:nvSpPr>
        <p:spPr>
          <a:xfrm>
            <a:off x="1828800" y="5687640"/>
            <a:ext cx="8503560" cy="45684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LECTURA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No son roles decorativos: habilitan servicios reales de planta y administración centralizada.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Roles y características instalados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Verificación con PowerShell: Get‑WindowsFeature | Where‑Object Installed.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09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5" name="Image 0" descr="/mnt/data/redesign_assets/17_cp16_caracteristicas_instaladas.png"/>
          <p:cNvPicPr/>
          <p:nvPr/>
        </p:nvPicPr>
        <p:blipFill>
          <a:blip r:embed="rId3"/>
          <a:srcRect l="6739" r="6739"/>
          <a:stretch/>
        </p:blipFill>
        <p:spPr>
          <a:xfrm>
            <a:off x="749880" y="1847160"/>
            <a:ext cx="640044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Text 12"/>
          <p:cNvSpPr/>
          <p:nvPr/>
        </p:nvSpPr>
        <p:spPr>
          <a:xfrm>
            <a:off x="749880" y="5870520"/>
            <a:ext cx="6400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CP16 · Listado de características instaladas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3"/>
          <p:cNvSpPr/>
          <p:nvPr/>
        </p:nvSpPr>
        <p:spPr>
          <a:xfrm>
            <a:off x="7543800" y="1993320"/>
            <a:ext cx="374868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IIS con ASP.NET 4.8, ISAPI y consola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.NET Framework 3.5 y 4.8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Servicios WCF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Servicios de archivos y de impresión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7543800" y="4133160"/>
            <a:ext cx="3748680" cy="731160"/>
          </a:xfrm>
          <a:prstGeom prst="rect">
            <a:avLst/>
          </a:prstGeom>
          <a:solidFill>
            <a:srgbClr val="F5F6F8"/>
          </a:solidFill>
          <a:ln w="1905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DETALLE TÉCNICO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.NET 3.5 requirió montar la ISO y usar la carpeta sxs como fuente.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IIS y ASP.NET funcionando desde la red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prueba demuestra servicio web local, acceso desde la PC y ejecución dinámica.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10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age 0" descr="/mnt/data/redesign_assets/20_cp28_iis_desde_host.png"/>
          <p:cNvPicPr/>
          <p:nvPr/>
        </p:nvPicPr>
        <p:blipFill>
          <a:blip r:embed="rId3"/>
          <a:srcRect l="4350" r="4350"/>
          <a:stretch/>
        </p:blipFill>
        <p:spPr>
          <a:xfrm>
            <a:off x="749880" y="1874520"/>
            <a:ext cx="507456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Text 12"/>
          <p:cNvSpPr/>
          <p:nvPr/>
        </p:nvSpPr>
        <p:spPr>
          <a:xfrm>
            <a:off x="749880" y="5120640"/>
            <a:ext cx="5074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CP28 · IIS accedido desde la PC anfitrión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3" name="Image 1" descr="/mnt/data/redesign_assets/21_cp19_aspnet_test.png"/>
          <p:cNvPicPr/>
          <p:nvPr/>
        </p:nvPicPr>
        <p:blipFill>
          <a:blip r:embed="rId4"/>
          <a:srcRect l="8428" r="8428"/>
          <a:stretch/>
        </p:blipFill>
        <p:spPr>
          <a:xfrm>
            <a:off x="6355080" y="1874520"/>
            <a:ext cx="507456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13"/>
          <p:cNvSpPr/>
          <p:nvPr/>
        </p:nvSpPr>
        <p:spPr>
          <a:xfrm>
            <a:off x="6355080" y="5120640"/>
            <a:ext cx="5074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CP19 · test.aspx: ASP.NET operativo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1207080" y="5596200"/>
            <a:ext cx="2925720" cy="3837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IIS responde por red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4645080" y="5596200"/>
            <a:ext cx="2925720" cy="3837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ASP.NET ejecuta código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6"/>
          <p:cNvSpPr/>
          <p:nvPr/>
        </p:nvSpPr>
        <p:spPr>
          <a:xfrm>
            <a:off x="8092440" y="5596200"/>
            <a:ext cx="2925720" cy="3837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Snapshots para volver atrás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DEFENSA DEL TP2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Ubuntu Server en VMware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Servidor Linux básico, sin entorno gráfico, administrado por consola y SSH.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11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0" descr="/mnt/data/redesign_assets/34_ubuntu_primer_inicio_consola.png"/>
          <p:cNvPicPr/>
          <p:nvPr/>
        </p:nvPicPr>
        <p:blipFill>
          <a:blip r:embed="rId3"/>
          <a:srcRect t="23910" b="23910"/>
          <a:stretch/>
        </p:blipFill>
        <p:spPr>
          <a:xfrm>
            <a:off x="731520" y="1965960"/>
            <a:ext cx="539460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12"/>
          <p:cNvSpPr/>
          <p:nvPr/>
        </p:nvSpPr>
        <p:spPr>
          <a:xfrm>
            <a:off x="731520" y="5349240"/>
            <a:ext cx="53946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Primer inicio en consola (datos sensibles ocultos)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6629400" y="1965960"/>
            <a:ext cx="1667520" cy="4082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Sistema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4"/>
          <p:cNvSpPr/>
          <p:nvPr/>
        </p:nvSpPr>
        <p:spPr>
          <a:xfrm>
            <a:off x="8297280" y="1965960"/>
            <a:ext cx="2720880" cy="4082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Ubuntu Server LTS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5"/>
          <p:cNvSpPr/>
          <p:nvPr/>
        </p:nvSpPr>
        <p:spPr>
          <a:xfrm>
            <a:off x="6629400" y="2374560"/>
            <a:ext cx="1667520" cy="4082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RAM / disco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8297280" y="2374560"/>
            <a:ext cx="2720880" cy="4082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4 GB · 40 GB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6629400" y="2782800"/>
            <a:ext cx="1667520" cy="4082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Red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8297280" y="2782800"/>
            <a:ext cx="2720880" cy="4082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Bridged · IP local por DHCP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6629400" y="3191400"/>
            <a:ext cx="1667520" cy="4082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Interfaz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8297280" y="3191400"/>
            <a:ext cx="2720880" cy="4082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ens33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6629400" y="3599640"/>
            <a:ext cx="1667520" cy="4082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Usuario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8297280" y="3599640"/>
            <a:ext cx="2720880" cy="4082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cuenta con sudo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3"/>
          <p:cNvSpPr/>
          <p:nvPr/>
        </p:nvSpPr>
        <p:spPr>
          <a:xfrm>
            <a:off x="6629400" y="4008240"/>
            <a:ext cx="1667520" cy="4082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Zona horaria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4"/>
          <p:cNvSpPr/>
          <p:nvPr/>
        </p:nvSpPr>
        <p:spPr>
          <a:xfrm>
            <a:off x="8297280" y="4008240"/>
            <a:ext cx="2720880" cy="4082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America/Argentina/Cordoba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6629400" y="4754880"/>
            <a:ext cx="4388760" cy="69444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CRITERIO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 usa usuario con sudo: trazabilidad y menor riesgo que trabajar directamente como root.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Partición con LVM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El volumen raíz se extendió en caliente para usar el disco completo.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12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777240" y="2194560"/>
            <a:ext cx="1554120" cy="71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DISCO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40 GB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2788920" y="2194560"/>
            <a:ext cx="1782720" cy="7128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RAÍZ INICIAL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≈ 19 GB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4"/>
          <p:cNvSpPr/>
          <p:nvPr/>
        </p:nvSpPr>
        <p:spPr>
          <a:xfrm>
            <a:off x="5074920" y="2194560"/>
            <a:ext cx="2011320" cy="71280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lvextend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+ resize2fs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5"/>
          <p:cNvSpPr/>
          <p:nvPr/>
        </p:nvSpPr>
        <p:spPr>
          <a:xfrm>
            <a:off x="7589520" y="2194560"/>
            <a:ext cx="1782720" cy="7128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RAÍZ FINAL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≈ 38 GB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6"/>
          <p:cNvSpPr/>
          <p:nvPr/>
        </p:nvSpPr>
        <p:spPr>
          <a:xfrm>
            <a:off x="9857160" y="2194560"/>
            <a:ext cx="1645560" cy="7128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SIN REINICIAR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en caliente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7"/>
          <p:cNvSpPr/>
          <p:nvPr/>
        </p:nvSpPr>
        <p:spPr>
          <a:xfrm>
            <a:off x="2340720" y="2550960"/>
            <a:ext cx="40248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8"/>
          <p:cNvSpPr/>
          <p:nvPr/>
        </p:nvSpPr>
        <p:spPr>
          <a:xfrm>
            <a:off x="4590000" y="2550960"/>
            <a:ext cx="43920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9"/>
          <p:cNvSpPr/>
          <p:nvPr/>
        </p:nvSpPr>
        <p:spPr>
          <a:xfrm>
            <a:off x="7104600" y="2550960"/>
            <a:ext cx="43920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9399960" y="2550960"/>
            <a:ext cx="42048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0" descr="/mnt/data/redesign_assets/36_ubuntu_lsblk_antes.png"/>
          <p:cNvPicPr/>
          <p:nvPr/>
        </p:nvPicPr>
        <p:blipFill>
          <a:blip r:embed="rId3"/>
          <a:srcRect t="12141" b="12141"/>
          <a:stretch/>
        </p:blipFill>
        <p:spPr>
          <a:xfrm>
            <a:off x="749880" y="3794760"/>
            <a:ext cx="3337200" cy="141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21"/>
          <p:cNvSpPr/>
          <p:nvPr/>
        </p:nvSpPr>
        <p:spPr>
          <a:xfrm>
            <a:off x="749880" y="533088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lsblk antes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1" descr="/mnt/data/redesign_assets/37_ubuntu_lvextend.png"/>
          <p:cNvPicPr/>
          <p:nvPr/>
        </p:nvPicPr>
        <p:blipFill>
          <a:blip r:embed="rId4"/>
          <a:srcRect t="11613" b="11613"/>
          <a:stretch/>
        </p:blipFill>
        <p:spPr>
          <a:xfrm>
            <a:off x="4434840" y="3794760"/>
            <a:ext cx="3337200" cy="141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22"/>
          <p:cNvSpPr/>
          <p:nvPr/>
        </p:nvSpPr>
        <p:spPr>
          <a:xfrm>
            <a:off x="4434840" y="533088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lvextend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Image 2" descr="/mnt/data/redesign_assets/38_ubuntu_resize2fs_df.png"/>
          <p:cNvPicPr/>
          <p:nvPr/>
        </p:nvPicPr>
        <p:blipFill>
          <a:blip r:embed="rId5"/>
          <a:srcRect t="12340" b="12340"/>
          <a:stretch/>
        </p:blipFill>
        <p:spPr>
          <a:xfrm>
            <a:off x="8119800" y="3794760"/>
            <a:ext cx="3337200" cy="141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 23"/>
          <p:cNvSpPr/>
          <p:nvPr/>
        </p:nvSpPr>
        <p:spPr>
          <a:xfrm>
            <a:off x="8119800" y="533088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resize2fs + df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Red, hora y conectividad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 valida IP local, salida a Internet, hora local y nombre de servidor.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13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Image 0" descr="/mnt/data/redesign_assets/43_ubuntu_ip_ping_8_8_8_8.png"/>
          <p:cNvPicPr/>
          <p:nvPr/>
        </p:nvPicPr>
        <p:blipFill>
          <a:blip r:embed="rId3"/>
          <a:srcRect t="9370" b="9370"/>
          <a:stretch/>
        </p:blipFill>
        <p:spPr>
          <a:xfrm>
            <a:off x="749880" y="1920240"/>
            <a:ext cx="333720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 12"/>
          <p:cNvSpPr/>
          <p:nvPr/>
        </p:nvSpPr>
        <p:spPr>
          <a:xfrm>
            <a:off x="749880" y="409644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IP local y ping a 8.8.8.8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1" descr="/mnt/data/redesign_assets/39_ubuntu_timedatectl.png"/>
          <p:cNvPicPr/>
          <p:nvPr/>
        </p:nvPicPr>
        <p:blipFill>
          <a:blip r:embed="rId4"/>
          <a:srcRect l="5427" r="5427"/>
          <a:stretch/>
        </p:blipFill>
        <p:spPr>
          <a:xfrm>
            <a:off x="4434840" y="1920240"/>
            <a:ext cx="333720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13"/>
          <p:cNvSpPr/>
          <p:nvPr/>
        </p:nvSpPr>
        <p:spPr>
          <a:xfrm>
            <a:off x="4434840" y="409644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Zona horaria Córdoba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Image 2" descr="/mnt/data/redesign_assets/41_ubuntu_ssh_hostname_nuevo.png"/>
          <p:cNvPicPr/>
          <p:nvPr/>
        </p:nvPicPr>
        <p:blipFill>
          <a:blip r:embed="rId5"/>
          <a:srcRect t="22751" b="22751"/>
          <a:stretch/>
        </p:blipFill>
        <p:spPr>
          <a:xfrm>
            <a:off x="8119800" y="1920240"/>
            <a:ext cx="3337200" cy="205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 14"/>
          <p:cNvSpPr/>
          <p:nvPr/>
        </p:nvSpPr>
        <p:spPr>
          <a:xfrm>
            <a:off x="8119800" y="4096440"/>
            <a:ext cx="3337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Hostname corregido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841320" y="4983480"/>
            <a:ext cx="3337200" cy="529920"/>
          </a:xfrm>
          <a:prstGeom prst="rect">
            <a:avLst/>
          </a:prstGeom>
          <a:solidFill>
            <a:srgbClr val="F5F6F8"/>
          </a:solidFill>
          <a:ln w="1905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PROBLEMA 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Teclado de consola no coincidía → administración por SSH.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4434840" y="4983480"/>
            <a:ext cx="3337200" cy="529920"/>
          </a:xfrm>
          <a:prstGeom prst="rect">
            <a:avLst/>
          </a:prstGeom>
          <a:solidFill>
            <a:srgbClr val="F5F6F8"/>
          </a:solidFill>
          <a:ln w="1905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PROBLEMA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google.com resolvía IPv6; la red no enrutaba IPv6 → se verificó con IPv4.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8028360" y="4983480"/>
            <a:ext cx="3337200" cy="529920"/>
          </a:xfrm>
          <a:prstGeom prst="rect">
            <a:avLst/>
          </a:prstGeom>
          <a:solidFill>
            <a:srgbClr val="F5F6F8"/>
          </a:solidFill>
          <a:ln w="1905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RESULTADO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Red Bridged funcionando: VM alcanzable desde la PC y salida a Internet.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EVIDENCIA DEL TP2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CLI y SSH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Servidor sin GUI: menos consumo, menos superficie de ataque y administración remota.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14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Image 0" descr="/mnt/data/redesign_assets/35_ubuntu_ssh_desde_host.png"/>
          <p:cNvPicPr/>
          <p:nvPr/>
        </p:nvPicPr>
        <p:blipFill>
          <a:blip r:embed="rId3"/>
          <a:srcRect l="4212" r="4212"/>
          <a:stretch/>
        </p:blipFill>
        <p:spPr>
          <a:xfrm>
            <a:off x="749880" y="1874520"/>
            <a:ext cx="6126120" cy="374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 12"/>
          <p:cNvSpPr/>
          <p:nvPr/>
        </p:nvSpPr>
        <p:spPr>
          <a:xfrm>
            <a:off x="749880" y="5742360"/>
            <a:ext cx="6126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Conexión SSH desde PowerShell (datos sensibles ocultos)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3"/>
          <p:cNvSpPr/>
          <p:nvPr/>
        </p:nvSpPr>
        <p:spPr>
          <a:xfrm>
            <a:off x="7406640" y="2148840"/>
            <a:ext cx="3108600" cy="5666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MENOS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RECURSOS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4"/>
          <p:cNvSpPr/>
          <p:nvPr/>
        </p:nvSpPr>
        <p:spPr>
          <a:xfrm>
            <a:off x="7406640" y="3035880"/>
            <a:ext cx="3108600" cy="5666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MENOR SUPERFICIE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DE ATAQUE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5"/>
          <p:cNvSpPr/>
          <p:nvPr/>
        </p:nvSpPr>
        <p:spPr>
          <a:xfrm>
            <a:off x="7406640" y="3913560"/>
            <a:ext cx="3108600" cy="5666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ADMINISTRACIÓN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POR SSH Y SCRIPTS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6"/>
          <p:cNvSpPr/>
          <p:nvPr/>
        </p:nvSpPr>
        <p:spPr>
          <a:xfrm>
            <a:off x="7150680" y="5074920"/>
            <a:ext cx="3657240" cy="65808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CRITERIO DE SERVIDOR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Ubuntu Server se administra por línea de comandos: no necesita escritorio para cumplir su función.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1 · CRITERIO DE RED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Bridged versus NAT versus Host‑only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Un servidor de planta tiene que ser alcanzable por otros equipos de la red.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1 · Infraestructura local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Del Soto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15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777240" y="2103120"/>
            <a:ext cx="3291480" cy="11700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BRIDGED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VM = equipo más de la red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HMI / PLC / PC pueden alcanzarla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4443840" y="2103120"/>
            <a:ext cx="329148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NAT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VM queda detrás del host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Sale a Internet, pero no se expone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4"/>
          <p:cNvSpPr/>
          <p:nvPr/>
        </p:nvSpPr>
        <p:spPr>
          <a:xfrm>
            <a:off x="8110800" y="2103120"/>
            <a:ext cx="329148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HOST‑ONLY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Solo visible para el anfitrión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Red privada de laboratorio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5"/>
          <p:cNvSpPr/>
          <p:nvPr/>
        </p:nvSpPr>
        <p:spPr>
          <a:xfrm>
            <a:off x="1645920" y="4114800"/>
            <a:ext cx="1919880" cy="41112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ROUTER / RED LOCAL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6"/>
          <p:cNvSpPr/>
          <p:nvPr/>
        </p:nvSpPr>
        <p:spPr>
          <a:xfrm>
            <a:off x="5074920" y="4114800"/>
            <a:ext cx="1737000" cy="4111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PC anfitrión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8961120" y="4114800"/>
            <a:ext cx="1737000" cy="41112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Servidor VM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8"/>
          <p:cNvSpPr/>
          <p:nvPr/>
        </p:nvSpPr>
        <p:spPr>
          <a:xfrm>
            <a:off x="3584160" y="4315680"/>
            <a:ext cx="144504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19"/>
          <p:cNvSpPr/>
          <p:nvPr/>
        </p:nvSpPr>
        <p:spPr>
          <a:xfrm>
            <a:off x="6858000" y="4315680"/>
            <a:ext cx="205740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0"/>
          <p:cNvSpPr/>
          <p:nvPr/>
        </p:nvSpPr>
        <p:spPr>
          <a:xfrm>
            <a:off x="1143000" y="5349240"/>
            <a:ext cx="9920880" cy="566640"/>
          </a:xfrm>
          <a:prstGeom prst="rect">
            <a:avLst/>
          </a:prstGeom>
          <a:solidFill>
            <a:srgbClr val="F5F6F8"/>
          </a:solidFill>
          <a:ln w="1905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CONCLUSIÓN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Para un servidor industrial de laboratorio, Bridged permite validarlo como si fuera un equipo real de la LAN.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"/>
          <p:cNvSpPr/>
          <p:nvPr/>
        </p:nvSpPr>
        <p:spPr>
          <a:xfrm>
            <a:off x="530280" y="932760"/>
            <a:ext cx="6854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02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"/>
          <p:cNvSpPr/>
          <p:nvPr/>
        </p:nvSpPr>
        <p:spPr>
          <a:xfrm>
            <a:off x="530280" y="1417320"/>
            <a:ext cx="64461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70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Libre Baskerville"/>
                <a:ea typeface="Libre Baskerville"/>
              </a:rPr>
              <a:t>MIGRAR LA INFRAESTRUCTURA A LA NUBE</a:t>
            </a:r>
            <a:endParaRPr lang="en-US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4"/>
          <p:cNvSpPr/>
          <p:nvPr/>
        </p:nvSpPr>
        <p:spPr>
          <a:xfrm>
            <a:off x="530280" y="2148840"/>
            <a:ext cx="65844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"/>
          <p:cNvSpPr/>
          <p:nvPr/>
        </p:nvSpPr>
        <p:spPr>
          <a:xfrm>
            <a:off x="530280" y="2395800"/>
            <a:ext cx="66747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Servicios administrados y escalabilidad, pero con nuevas decisiones de seguridad.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6"/>
          <p:cNvSpPr/>
          <p:nvPr/>
        </p:nvSpPr>
        <p:spPr>
          <a:xfrm>
            <a:off x="7543800" y="1325880"/>
            <a:ext cx="402300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CAPEX → OPEX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Escalabilidad en minutos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Backups y alta disponibilidad incluidos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Riesgos: Internet, latencia, costos y superficie de ataque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7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8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Bloque 2 · Nube y ciberseguridad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9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Expone: Ferrero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0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16 / 28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1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2B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2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2 · LOGÍSTICA DE ACCESO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Creación de la cuenta de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Registro, verificación y selección de región para trabajar en us‑east‑1.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2 · Nube y ciberseguridad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Ferrero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17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/mnt/data/redesign_assets/50_aws_consola_region_us_east_1.png"/>
          <p:cNvPicPr/>
          <p:nvPr/>
        </p:nvPicPr>
        <p:blipFill>
          <a:blip r:embed="rId3"/>
          <a:srcRect l="8805" r="8805"/>
          <a:stretch/>
        </p:blipFill>
        <p:spPr>
          <a:xfrm>
            <a:off x="749880" y="1938600"/>
            <a:ext cx="544032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12"/>
          <p:cNvSpPr/>
          <p:nvPr/>
        </p:nvSpPr>
        <p:spPr>
          <a:xfrm>
            <a:off x="749880" y="5349240"/>
            <a:ext cx="5440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Consola AWS con región us‑east‑1 (datos sensibles ocultos)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3"/>
          <p:cNvSpPr/>
          <p:nvPr/>
        </p:nvSpPr>
        <p:spPr>
          <a:xfrm>
            <a:off x="6583680" y="192024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1. Email y contraseña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4"/>
          <p:cNvSpPr/>
          <p:nvPr/>
        </p:nvSpPr>
        <p:spPr>
          <a:xfrm>
            <a:off x="8961120" y="192024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2. Free plan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5"/>
          <p:cNvSpPr/>
          <p:nvPr/>
        </p:nvSpPr>
        <p:spPr>
          <a:xfrm>
            <a:off x="6583680" y="288036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3. Datos de contacto y tarjeta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6"/>
          <p:cNvSpPr/>
          <p:nvPr/>
        </p:nvSpPr>
        <p:spPr>
          <a:xfrm>
            <a:off x="8961120" y="288036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4. Verificación email/teléfono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7"/>
          <p:cNvSpPr/>
          <p:nvPr/>
        </p:nvSpPr>
        <p:spPr>
          <a:xfrm>
            <a:off x="6583680" y="384048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5. Región us‑east‑1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8"/>
          <p:cNvSpPr/>
          <p:nvPr/>
        </p:nvSpPr>
        <p:spPr>
          <a:xfrm>
            <a:off x="8961120" y="3840480"/>
            <a:ext cx="2148480" cy="50256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1270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6. MFA recomendado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9"/>
          <p:cNvSpPr/>
          <p:nvPr/>
        </p:nvSpPr>
        <p:spPr>
          <a:xfrm>
            <a:off x="6583680" y="5120640"/>
            <a:ext cx="4525920" cy="59400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PRIVACIDAD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El identificador de cuenta y los datos personales permanecen ocultos.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2 · SEGURIDAD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Responsabilidad compartida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AWS protege la infraestructura; el usuario protege su configuración y sus datos.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2 · Nube y ciberseguridad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Ferrero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18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2"/>
          <p:cNvSpPr/>
          <p:nvPr/>
        </p:nvSpPr>
        <p:spPr>
          <a:xfrm>
            <a:off x="822960" y="2103120"/>
            <a:ext cx="4937400" cy="68544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AWS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SEGURIDAD DE LA NUBE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3"/>
          <p:cNvSpPr/>
          <p:nvPr/>
        </p:nvSpPr>
        <p:spPr>
          <a:xfrm>
            <a:off x="6446520" y="2103120"/>
            <a:ext cx="4937400" cy="685440"/>
          </a:xfrm>
          <a:prstGeom prst="roundRect">
            <a:avLst>
              <a:gd name="adj" fmla="val 16667"/>
            </a:avLst>
          </a:prstGeom>
          <a:solidFill>
            <a:srgbClr val="1B9AAA"/>
          </a:solidFill>
          <a:ln w="127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NOSOTROS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SEGURIDAD EN LA NUBE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4"/>
          <p:cNvSpPr/>
          <p:nvPr/>
        </p:nvSpPr>
        <p:spPr>
          <a:xfrm>
            <a:off x="1143000" y="3108960"/>
            <a:ext cx="4343040" cy="166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Datacenters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Hardware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Red física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Virtualización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Parches del motor en RDS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5"/>
          <p:cNvSpPr/>
          <p:nvPr/>
        </p:nvSpPr>
        <p:spPr>
          <a:xfrm>
            <a:off x="6766560" y="3108960"/>
            <a:ext cx="4343040" cy="166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Quién se conecta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Contraseñas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Reglas del Security Group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Usuarios y permisos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Datos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6"/>
          <p:cNvSpPr/>
          <p:nvPr/>
        </p:nvSpPr>
        <p:spPr>
          <a:xfrm>
            <a:off x="5760720" y="3840480"/>
            <a:ext cx="640080" cy="360"/>
          </a:xfrm>
          <a:prstGeom prst="line">
            <a:avLst/>
          </a:prstGeom>
          <a:ln w="2540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7"/>
          <p:cNvSpPr/>
          <p:nvPr/>
        </p:nvSpPr>
        <p:spPr>
          <a:xfrm>
            <a:off x="3429000" y="5394960"/>
            <a:ext cx="5348880" cy="594000"/>
          </a:xfrm>
          <a:prstGeom prst="rect">
            <a:avLst/>
          </a:prstGeom>
          <a:solidFill>
            <a:srgbClr val="F5F6F8"/>
          </a:solidFill>
          <a:ln w="1905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PUNTO CLAVE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El Security Group de RDS es responsabilidad del cliente.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2 · PERÍMETRO DE CIBERSEGURIDAD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Security Group para SQL Server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Firewall virtual con estado: habilita solo el tráfico necesario.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2 · Nube y ciberseguridad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Ferrero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19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Image 0" descr="/mnt/data/redesign_assets/51_aws_security_group_mssql_1433.png"/>
          <p:cNvPicPr/>
          <p:nvPr/>
        </p:nvPicPr>
        <p:blipFill>
          <a:blip r:embed="rId3"/>
          <a:srcRect l="35120" r="35120"/>
          <a:stretch/>
        </p:blipFill>
        <p:spPr>
          <a:xfrm>
            <a:off x="749880" y="1874520"/>
            <a:ext cx="608040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12"/>
          <p:cNvSpPr/>
          <p:nvPr/>
        </p:nvSpPr>
        <p:spPr>
          <a:xfrm>
            <a:off x="749880" y="4297680"/>
            <a:ext cx="6080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Regla de entrada MSSQL: IP pública ocultada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7150680" y="1965960"/>
            <a:ext cx="1266840" cy="4384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Nombre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4"/>
          <p:cNvSpPr/>
          <p:nvPr/>
        </p:nvSpPr>
        <p:spPr>
          <a:xfrm>
            <a:off x="8417880" y="1965960"/>
            <a:ext cx="759960" cy="4384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Tipo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5"/>
          <p:cNvSpPr/>
          <p:nvPr/>
        </p:nvSpPr>
        <p:spPr>
          <a:xfrm>
            <a:off x="9178560" y="1965960"/>
            <a:ext cx="759960" cy="4384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Protocolo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9938880" y="1965960"/>
            <a:ext cx="591120" cy="4384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Puerto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10530360" y="1965960"/>
            <a:ext cx="844560" cy="43848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Origen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8"/>
          <p:cNvSpPr/>
          <p:nvPr/>
        </p:nvSpPr>
        <p:spPr>
          <a:xfrm>
            <a:off x="7150680" y="2404800"/>
            <a:ext cx="1266840" cy="4384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sg‑rds‑sqlserver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9"/>
          <p:cNvSpPr/>
          <p:nvPr/>
        </p:nvSpPr>
        <p:spPr>
          <a:xfrm>
            <a:off x="8417880" y="2404800"/>
            <a:ext cx="759960" cy="4384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MSSQL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0"/>
          <p:cNvSpPr/>
          <p:nvPr/>
        </p:nvSpPr>
        <p:spPr>
          <a:xfrm>
            <a:off x="9178560" y="2404800"/>
            <a:ext cx="759960" cy="4384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TCP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21"/>
          <p:cNvSpPr/>
          <p:nvPr/>
        </p:nvSpPr>
        <p:spPr>
          <a:xfrm>
            <a:off x="9938880" y="2404800"/>
            <a:ext cx="591120" cy="4384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1433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10530360" y="2404800"/>
            <a:ext cx="844560" cy="4384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Mi IP /32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3"/>
          <p:cNvSpPr/>
          <p:nvPr/>
        </p:nvSpPr>
        <p:spPr>
          <a:xfrm>
            <a:off x="7388280" y="3291840"/>
            <a:ext cx="3748680" cy="5025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/32 = una sola dirección autorizada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4"/>
          <p:cNvSpPr/>
          <p:nvPr/>
        </p:nvSpPr>
        <p:spPr>
          <a:xfrm>
            <a:off x="7150680" y="4224600"/>
            <a:ext cx="4224240" cy="712800"/>
          </a:xfrm>
          <a:prstGeom prst="rect">
            <a:avLst/>
          </a:prstGeom>
          <a:solidFill>
            <a:srgbClr val="F5F6F8"/>
          </a:solidFill>
          <a:ln w="1905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JUSTIFICACIÓN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Sin abrir 1433 no hay conexión; al restringir a Mi IP se reduce la superficie de ataque.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2 · PERÍMETRO DE CIBERSEGURIDAD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1433: Mi IP versus todo Internet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regla de entrada define la superficie real de exposición de la base.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2 · Nube y ciberseguridad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Ferrero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20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2"/>
          <p:cNvSpPr/>
          <p:nvPr/>
        </p:nvSpPr>
        <p:spPr>
          <a:xfrm>
            <a:off x="896040" y="2057400"/>
            <a:ext cx="4663080" cy="5025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MI IP /32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3"/>
          <p:cNvSpPr/>
          <p:nvPr/>
        </p:nvSpPr>
        <p:spPr>
          <a:xfrm>
            <a:off x="1143000" y="2788920"/>
            <a:ext cx="4114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Una sola dirección autorizada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Principio de mínimo privilegio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Superficie de ataque mínima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4"/>
          <p:cNvSpPr/>
          <p:nvPr/>
        </p:nvSpPr>
        <p:spPr>
          <a:xfrm>
            <a:off x="6629400" y="2057400"/>
            <a:ext cx="4663080" cy="502560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2700">
            <a:solidFill>
              <a:srgbClr val="C530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0.0.0.0/0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5"/>
          <p:cNvSpPr/>
          <p:nvPr/>
        </p:nvSpPr>
        <p:spPr>
          <a:xfrm>
            <a:off x="6858000" y="2788920"/>
            <a:ext cx="4114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Escaneo continuo del puerto 1433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Fuerza bruta contra usuario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Robo, cifrado de datos o ransomware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6"/>
          <p:cNvSpPr/>
          <p:nvPr/>
        </p:nvSpPr>
        <p:spPr>
          <a:xfrm>
            <a:off x="5586840" y="3108960"/>
            <a:ext cx="969120" cy="360"/>
          </a:xfrm>
          <a:prstGeom prst="line">
            <a:avLst/>
          </a:prstGeom>
          <a:ln w="30480">
            <a:solidFill>
              <a:srgbClr val="B7791F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7"/>
          <p:cNvSpPr/>
          <p:nvPr/>
        </p:nvSpPr>
        <p:spPr>
          <a:xfrm>
            <a:off x="1371600" y="5139000"/>
            <a:ext cx="9372240" cy="62136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EN PLANTA REAL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base se ubica en subred privada, con acceso por VPN y usuarios con permisos mínimos.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3 · APROVISIONAMIENTO EN AWS RDS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SQL Server Express en Amazon RDS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Servicio administrado: AWS gestiona sistema, parches y respaldos.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3 · Implementación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21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2"/>
          <p:cNvSpPr/>
          <p:nvPr/>
        </p:nvSpPr>
        <p:spPr>
          <a:xfrm>
            <a:off x="777240" y="1874520"/>
            <a:ext cx="18064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Motor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3"/>
          <p:cNvSpPr/>
          <p:nvPr/>
        </p:nvSpPr>
        <p:spPr>
          <a:xfrm>
            <a:off x="2584080" y="1874520"/>
            <a:ext cx="29476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Microsoft SQL Server · Express Edition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4"/>
          <p:cNvSpPr/>
          <p:nvPr/>
        </p:nvSpPr>
        <p:spPr>
          <a:xfrm>
            <a:off x="777240" y="2257560"/>
            <a:ext cx="18064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Método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2584080" y="2257560"/>
            <a:ext cx="29476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Standard create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777240" y="2640240"/>
            <a:ext cx="18064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Disponibilidad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7"/>
          <p:cNvSpPr/>
          <p:nvPr/>
        </p:nvSpPr>
        <p:spPr>
          <a:xfrm>
            <a:off x="2584080" y="2640240"/>
            <a:ext cx="29476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Single‑AZ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8"/>
          <p:cNvSpPr/>
          <p:nvPr/>
        </p:nvSpPr>
        <p:spPr>
          <a:xfrm>
            <a:off x="777240" y="3023280"/>
            <a:ext cx="18064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Identificador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9"/>
          <p:cNvSpPr/>
          <p:nvPr/>
        </p:nvSpPr>
        <p:spPr>
          <a:xfrm>
            <a:off x="2584080" y="3023280"/>
            <a:ext cx="29476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planta‑industrial‑db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0"/>
          <p:cNvSpPr/>
          <p:nvPr/>
        </p:nvSpPr>
        <p:spPr>
          <a:xfrm>
            <a:off x="777240" y="3406320"/>
            <a:ext cx="18064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Usuario maestro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1"/>
          <p:cNvSpPr/>
          <p:nvPr/>
        </p:nvSpPr>
        <p:spPr>
          <a:xfrm>
            <a:off x="2584080" y="3406320"/>
            <a:ext cx="29476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usuario_admin (anonimizado)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2"/>
          <p:cNvSpPr/>
          <p:nvPr/>
        </p:nvSpPr>
        <p:spPr>
          <a:xfrm>
            <a:off x="777240" y="3789000"/>
            <a:ext cx="18064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Almacenamiento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3"/>
          <p:cNvSpPr/>
          <p:nvPr/>
        </p:nvSpPr>
        <p:spPr>
          <a:xfrm>
            <a:off x="2584080" y="3789000"/>
            <a:ext cx="29476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20 GiB SSD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4"/>
          <p:cNvSpPr/>
          <p:nvPr/>
        </p:nvSpPr>
        <p:spPr>
          <a:xfrm>
            <a:off x="777240" y="4172040"/>
            <a:ext cx="18064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Acceso público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5"/>
          <p:cNvSpPr/>
          <p:nvPr/>
        </p:nvSpPr>
        <p:spPr>
          <a:xfrm>
            <a:off x="2584080" y="4172040"/>
            <a:ext cx="2947680" cy="38268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Sí, filtrado por Security Group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6"/>
          <p:cNvSpPr/>
          <p:nvPr/>
        </p:nvSpPr>
        <p:spPr>
          <a:xfrm>
            <a:off x="777240" y="4554720"/>
            <a:ext cx="18064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Puerto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27"/>
          <p:cNvSpPr/>
          <p:nvPr/>
        </p:nvSpPr>
        <p:spPr>
          <a:xfrm>
            <a:off x="2584080" y="4554720"/>
            <a:ext cx="2947680" cy="3826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1433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8"/>
          <p:cNvSpPr/>
          <p:nvPr/>
        </p:nvSpPr>
        <p:spPr>
          <a:xfrm>
            <a:off x="6858000" y="214884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Amazon RDS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SQL Server Express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9"/>
          <p:cNvSpPr/>
          <p:nvPr/>
        </p:nvSpPr>
        <p:spPr>
          <a:xfrm>
            <a:off x="7269480" y="3456360"/>
            <a:ext cx="2514240" cy="5666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PaaS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servicio administrado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0"/>
          <p:cNvSpPr/>
          <p:nvPr/>
        </p:nvSpPr>
        <p:spPr>
          <a:xfrm>
            <a:off x="6144840" y="4800600"/>
            <a:ext cx="4663080" cy="74952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DECISIÓN DE LABORATORIO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Single‑AZ y 20 GiB son suficientes para el parcial; en producción se evaluaría alta disponibilidad y subred privada.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3 · APROVISIONAMIENTO EN AWS RDS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Instancia disponible y punto de enlace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Evidencia de la instancia creada y datos de conexión anonimizados.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3 · Implementación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22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Image 0" descr="/mnt/data/redesign_assets/52_rds_resumen_instancia.png"/>
          <p:cNvPicPr/>
          <p:nvPr/>
        </p:nvPicPr>
        <p:blipFill>
          <a:blip r:embed="rId3"/>
          <a:srcRect t="6901" b="6901"/>
          <a:stretch/>
        </p:blipFill>
        <p:spPr>
          <a:xfrm>
            <a:off x="749880" y="1874520"/>
            <a:ext cx="512028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Text 12"/>
          <p:cNvSpPr/>
          <p:nvPr/>
        </p:nvSpPr>
        <p:spPr>
          <a:xfrm>
            <a:off x="749880" y="4206240"/>
            <a:ext cx="5120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Resumen de la instancia (cuenta oculta)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3" name="Image 1" descr="/mnt/data/redesign_assets/53_rds_conectividad_endpoint_vpc.png"/>
          <p:cNvPicPr/>
          <p:nvPr/>
        </p:nvPicPr>
        <p:blipFill>
          <a:blip r:embed="rId4"/>
          <a:srcRect l="12813" r="12813"/>
          <a:stretch/>
        </p:blipFill>
        <p:spPr>
          <a:xfrm>
            <a:off x="749880" y="4498920"/>
            <a:ext cx="512028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Text 13"/>
          <p:cNvSpPr/>
          <p:nvPr/>
        </p:nvSpPr>
        <p:spPr>
          <a:xfrm>
            <a:off x="749880" y="5760720"/>
            <a:ext cx="5120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Endpoint y VPC anonimizados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4"/>
          <p:cNvSpPr/>
          <p:nvPr/>
        </p:nvSpPr>
        <p:spPr>
          <a:xfrm>
            <a:off x="6446520" y="2057400"/>
            <a:ext cx="171972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Estado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5"/>
          <p:cNvSpPr/>
          <p:nvPr/>
        </p:nvSpPr>
        <p:spPr>
          <a:xfrm>
            <a:off x="8166600" y="2057400"/>
            <a:ext cx="280584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Disponible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6"/>
          <p:cNvSpPr/>
          <p:nvPr/>
        </p:nvSpPr>
        <p:spPr>
          <a:xfrm>
            <a:off x="6446520" y="2468880"/>
            <a:ext cx="171972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Motor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7"/>
          <p:cNvSpPr/>
          <p:nvPr/>
        </p:nvSpPr>
        <p:spPr>
          <a:xfrm>
            <a:off x="8166600" y="2468880"/>
            <a:ext cx="280584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SQL Server Express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8"/>
          <p:cNvSpPr/>
          <p:nvPr/>
        </p:nvSpPr>
        <p:spPr>
          <a:xfrm>
            <a:off x="6446520" y="2880360"/>
            <a:ext cx="171972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Clase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9"/>
          <p:cNvSpPr/>
          <p:nvPr/>
        </p:nvSpPr>
        <p:spPr>
          <a:xfrm>
            <a:off x="8166600" y="2880360"/>
            <a:ext cx="280584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db.t3.micro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0"/>
          <p:cNvSpPr/>
          <p:nvPr/>
        </p:nvSpPr>
        <p:spPr>
          <a:xfrm>
            <a:off x="6446520" y="3291840"/>
            <a:ext cx="171972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Región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1"/>
          <p:cNvSpPr/>
          <p:nvPr/>
        </p:nvSpPr>
        <p:spPr>
          <a:xfrm>
            <a:off x="8166600" y="3291840"/>
            <a:ext cx="280584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us‑east‑1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2"/>
          <p:cNvSpPr/>
          <p:nvPr/>
        </p:nvSpPr>
        <p:spPr>
          <a:xfrm>
            <a:off x="6446520" y="3703320"/>
            <a:ext cx="171972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Servidor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3"/>
          <p:cNvSpPr/>
          <p:nvPr/>
        </p:nvSpPr>
        <p:spPr>
          <a:xfrm>
            <a:off x="8166600" y="3703320"/>
            <a:ext cx="280584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********.us‑east‑1.rds.amazonaws.com,1433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4"/>
          <p:cNvSpPr/>
          <p:nvPr/>
        </p:nvSpPr>
        <p:spPr>
          <a:xfrm>
            <a:off x="6446520" y="4114800"/>
            <a:ext cx="171972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Acceso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25"/>
          <p:cNvSpPr/>
          <p:nvPr/>
        </p:nvSpPr>
        <p:spPr>
          <a:xfrm>
            <a:off x="8166600" y="4114800"/>
            <a:ext cx="280584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Público, filtrado por Security Group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6"/>
          <p:cNvSpPr/>
          <p:nvPr/>
        </p:nvSpPr>
        <p:spPr>
          <a:xfrm>
            <a:off x="6446520" y="4937760"/>
            <a:ext cx="4525920" cy="658080"/>
          </a:xfrm>
          <a:prstGeom prst="rect">
            <a:avLst/>
          </a:prstGeom>
          <a:solidFill>
            <a:srgbClr val="F5F6F8"/>
          </a:solidFill>
          <a:ln w="1905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CHECK ANTES DE DEMO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Actualizar Mi IP en el Security Group si cambia la IP pública del equipo.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3 · ARQUITECTURA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Del cliente local a la base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El Security Group filtra origen y puerto antes de permitir la conexión a RDS.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3 · Implementación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23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2"/>
          <p:cNvSpPr/>
          <p:nvPr/>
        </p:nvSpPr>
        <p:spPr>
          <a:xfrm>
            <a:off x="713160" y="2788920"/>
            <a:ext cx="1919880" cy="804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MI PC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SSMS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3"/>
          <p:cNvSpPr/>
          <p:nvPr/>
        </p:nvSpPr>
        <p:spPr>
          <a:xfrm>
            <a:off x="3154680" y="2788920"/>
            <a:ext cx="2057040" cy="8042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INTERNET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Conexión cifrada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14"/>
          <p:cNvSpPr/>
          <p:nvPr/>
        </p:nvSpPr>
        <p:spPr>
          <a:xfrm>
            <a:off x="5897880" y="2788920"/>
            <a:ext cx="2331360" cy="80424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SECURITY GROUP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TCP 1433 · Mi IP /32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5"/>
          <p:cNvSpPr/>
          <p:nvPr/>
        </p:nvSpPr>
        <p:spPr>
          <a:xfrm>
            <a:off x="8979480" y="2788920"/>
            <a:ext cx="2331360" cy="80424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AWS RDS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SQL Server Express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6"/>
          <p:cNvSpPr/>
          <p:nvPr/>
        </p:nvSpPr>
        <p:spPr>
          <a:xfrm>
            <a:off x="2669760" y="3191040"/>
            <a:ext cx="439200" cy="360"/>
          </a:xfrm>
          <a:prstGeom prst="line">
            <a:avLst/>
          </a:prstGeom>
          <a:ln w="3175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7"/>
          <p:cNvSpPr/>
          <p:nvPr/>
        </p:nvSpPr>
        <p:spPr>
          <a:xfrm>
            <a:off x="5248440" y="3191040"/>
            <a:ext cx="603720" cy="360"/>
          </a:xfrm>
          <a:prstGeom prst="line">
            <a:avLst/>
          </a:prstGeom>
          <a:ln w="3175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8"/>
          <p:cNvSpPr/>
          <p:nvPr/>
        </p:nvSpPr>
        <p:spPr>
          <a:xfrm>
            <a:off x="8275320" y="3191040"/>
            <a:ext cx="667440" cy="360"/>
          </a:xfrm>
          <a:prstGeom prst="line">
            <a:avLst/>
          </a:prstGeom>
          <a:ln w="31750">
            <a:solidFill>
              <a:srgbClr val="1B9AA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9"/>
          <p:cNvSpPr/>
          <p:nvPr/>
        </p:nvSpPr>
        <p:spPr>
          <a:xfrm>
            <a:off x="2788920" y="4160520"/>
            <a:ext cx="6629040" cy="56664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Servidor: endpoint anonimizado,1433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Autenticación: SQL Server con usuario_admin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0"/>
          <p:cNvSpPr/>
          <p:nvPr/>
        </p:nvSpPr>
        <p:spPr>
          <a:xfrm>
            <a:off x="2788920" y="5120640"/>
            <a:ext cx="6629040" cy="621360"/>
          </a:xfrm>
          <a:prstGeom prst="rect">
            <a:avLst/>
          </a:prstGeom>
          <a:solidFill>
            <a:srgbClr val="F5F6F8"/>
          </a:solidFill>
          <a:ln w="1905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LECTURA DE LA ARQUITECTURA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 el Security Group no autoriza nuestra IP, la conexión no llega a la instancia.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3 · CONEXIÓN REMOTA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Conexión desde SSMS al endpoint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conexión prueba que instancia y Security Group funcionan.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3 · Implementación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24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1" name="Image 0" descr="/mnt/data/redesign_assets/54_ssms_conexion_rds.png"/>
          <p:cNvPicPr/>
          <p:nvPr/>
        </p:nvPicPr>
        <p:blipFill>
          <a:blip r:embed="rId3"/>
          <a:srcRect t="13617" b="13617"/>
          <a:stretch/>
        </p:blipFill>
        <p:spPr>
          <a:xfrm>
            <a:off x="868680" y="1828800"/>
            <a:ext cx="3748680" cy="384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 12"/>
          <p:cNvSpPr/>
          <p:nvPr/>
        </p:nvSpPr>
        <p:spPr>
          <a:xfrm>
            <a:off x="868680" y="577908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Cuadro de conexión de SSMS (datos ocultos)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3"/>
          <p:cNvSpPr/>
          <p:nvPr/>
        </p:nvSpPr>
        <p:spPr>
          <a:xfrm>
            <a:off x="5257800" y="2084760"/>
            <a:ext cx="204984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Tipo de servidor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4"/>
          <p:cNvSpPr/>
          <p:nvPr/>
        </p:nvSpPr>
        <p:spPr>
          <a:xfrm>
            <a:off x="7308000" y="2084760"/>
            <a:ext cx="334440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Database Engine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5"/>
          <p:cNvSpPr/>
          <p:nvPr/>
        </p:nvSpPr>
        <p:spPr>
          <a:xfrm>
            <a:off x="5257800" y="2496240"/>
            <a:ext cx="204984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Nombre del servidor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6"/>
          <p:cNvSpPr/>
          <p:nvPr/>
        </p:nvSpPr>
        <p:spPr>
          <a:xfrm>
            <a:off x="7308000" y="2496240"/>
            <a:ext cx="334440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********.us‑east‑1.rds.amazonaws.com,1433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7"/>
          <p:cNvSpPr/>
          <p:nvPr/>
        </p:nvSpPr>
        <p:spPr>
          <a:xfrm>
            <a:off x="5257800" y="2907720"/>
            <a:ext cx="204984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Autenticación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8"/>
          <p:cNvSpPr/>
          <p:nvPr/>
        </p:nvSpPr>
        <p:spPr>
          <a:xfrm>
            <a:off x="7308000" y="2907720"/>
            <a:ext cx="334440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SQL Server Authentication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9"/>
          <p:cNvSpPr/>
          <p:nvPr/>
        </p:nvSpPr>
        <p:spPr>
          <a:xfrm>
            <a:off x="5257800" y="3319200"/>
            <a:ext cx="204984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Inicio de sesión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0"/>
          <p:cNvSpPr/>
          <p:nvPr/>
        </p:nvSpPr>
        <p:spPr>
          <a:xfrm>
            <a:off x="7308000" y="3319200"/>
            <a:ext cx="3344400" cy="41112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usuario_admin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1"/>
          <p:cNvSpPr/>
          <p:nvPr/>
        </p:nvSpPr>
        <p:spPr>
          <a:xfrm>
            <a:off x="5257800" y="3730680"/>
            <a:ext cx="204984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Nota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2"/>
          <p:cNvSpPr/>
          <p:nvPr/>
        </p:nvSpPr>
        <p:spPr>
          <a:xfrm>
            <a:off x="7308000" y="3730680"/>
            <a:ext cx="3344400" cy="41112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Endpoint, coma y puerto: no dos puntos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3"/>
          <p:cNvSpPr/>
          <p:nvPr/>
        </p:nvSpPr>
        <p:spPr>
          <a:xfrm>
            <a:off x="5257800" y="4663440"/>
            <a:ext cx="5394600" cy="712800"/>
          </a:xfrm>
          <a:prstGeom prst="rect">
            <a:avLst/>
          </a:prstGeom>
          <a:solidFill>
            <a:srgbClr val="F5F6F8"/>
          </a:solidFill>
          <a:ln w="19050">
            <a:solidFill>
              <a:srgbClr val="B7791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PRUEBA RÁPIDA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Si no conecta: Test‑NetConnection al puerto 1433 y revisar Mi IP en el Security Group.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3 · SCRIPT TRANSACT‑SQL (1 DE 2)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Base de datos y tabla de monitoreo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DDL: define la estructura de la base Planta_Industrial y la tabla Eventos_Planta.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3 · Implementación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25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2"/>
          <p:cNvSpPr/>
          <p:nvPr/>
        </p:nvSpPr>
        <p:spPr>
          <a:xfrm>
            <a:off x="749880" y="1874520"/>
            <a:ext cx="5577480" cy="3748680"/>
          </a:xfrm>
          <a:prstGeom prst="rect">
            <a:avLst/>
          </a:prstGeom>
          <a:solidFill>
            <a:srgbClr val="F5F6F8"/>
          </a:solidFill>
          <a:ln w="762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" tIns="1800" rIns="1800" bIns="1800" anchor="t">
            <a:normAutofit/>
          </a:bodyPr>
          <a:lstStyle/>
          <a:p>
            <a:pPr lvl="1">
              <a:tabLst>
                <a:tab pos="0" algn="l"/>
              </a:tabLst>
            </a:pPr>
            <a:endParaRPr lang="en-US" b="0" u="none" strike="noStrike" dirty="0">
              <a:solidFill>
                <a:srgbClr val="2E3440"/>
              </a:solidFill>
              <a:effectLst/>
              <a:uFillTx/>
              <a:latin typeface="JetBrains Mono"/>
              <a:ea typeface="JetBrains Mono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CREATE DATABASE 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Planta_Industrial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GO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USE 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Planta_Industrial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GO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CREATE TABLE 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dbo.Eventos_Planta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(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 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id_evento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INT IDENTITY(1,1) PRIMARY KEY,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 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fecha_hora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DATETIME2(0) NOT NULL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   DEFAULT SYSDATETIME(),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 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tipo_evento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VARCHAR(20) NOT NULL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   CHECK (</a:t>
            </a:r>
            <a:r>
              <a:rPr lang="en-US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tipo_evento</a:t>
            </a: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IN (...))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);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3"/>
          <p:cNvSpPr/>
          <p:nvPr/>
        </p:nvSpPr>
        <p:spPr>
          <a:xfrm>
            <a:off x="6720840" y="1920240"/>
            <a:ext cx="3702960" cy="56664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DDL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Data Definition Language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4"/>
          <p:cNvSpPr/>
          <p:nvPr/>
        </p:nvSpPr>
        <p:spPr>
          <a:xfrm>
            <a:off x="6510600" y="2788920"/>
            <a:ext cx="1247760" cy="38844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Elemento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5"/>
          <p:cNvSpPr/>
          <p:nvPr/>
        </p:nvSpPr>
        <p:spPr>
          <a:xfrm>
            <a:off x="7758720" y="2788920"/>
            <a:ext cx="2912040" cy="388440"/>
          </a:xfrm>
          <a:prstGeom prst="rect">
            <a:avLst/>
          </a:prstGeom>
          <a:solidFill>
            <a:srgbClr val="123A5C"/>
          </a:solidFill>
          <a:ln w="635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Función</a:t>
            </a:r>
            <a:endParaRPr lang="en-US" sz="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6"/>
          <p:cNvSpPr/>
          <p:nvPr/>
        </p:nvSpPr>
        <p:spPr>
          <a:xfrm>
            <a:off x="6510600" y="3177720"/>
            <a:ext cx="1247760" cy="3884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IDENTITY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7"/>
          <p:cNvSpPr/>
          <p:nvPr/>
        </p:nvSpPr>
        <p:spPr>
          <a:xfrm>
            <a:off x="7758720" y="3177720"/>
            <a:ext cx="2912040" cy="3884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Numera automáticamente cada evento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8"/>
          <p:cNvSpPr/>
          <p:nvPr/>
        </p:nvSpPr>
        <p:spPr>
          <a:xfrm>
            <a:off x="6510600" y="3566160"/>
            <a:ext cx="1247760" cy="3884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PRIMARY KEY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9"/>
          <p:cNvSpPr/>
          <p:nvPr/>
        </p:nvSpPr>
        <p:spPr>
          <a:xfrm>
            <a:off x="7758720" y="3566160"/>
            <a:ext cx="2912040" cy="3884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Identificador único de fila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20"/>
          <p:cNvSpPr/>
          <p:nvPr/>
        </p:nvSpPr>
        <p:spPr>
          <a:xfrm>
            <a:off x="6510600" y="3954960"/>
            <a:ext cx="1247760" cy="3884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DEFAULT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1"/>
          <p:cNvSpPr/>
          <p:nvPr/>
        </p:nvSpPr>
        <p:spPr>
          <a:xfrm>
            <a:off x="7758720" y="3954960"/>
            <a:ext cx="2912040" cy="3884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Sella fecha y hora del evento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22"/>
          <p:cNvSpPr/>
          <p:nvPr/>
        </p:nvSpPr>
        <p:spPr>
          <a:xfrm>
            <a:off x="6510600" y="4343400"/>
            <a:ext cx="1247760" cy="3884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CHECK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23"/>
          <p:cNvSpPr/>
          <p:nvPr/>
        </p:nvSpPr>
        <p:spPr>
          <a:xfrm>
            <a:off x="7758720" y="4343400"/>
            <a:ext cx="2912040" cy="388440"/>
          </a:xfrm>
          <a:prstGeom prst="rect">
            <a:avLst/>
          </a:prstGeom>
          <a:solidFill>
            <a:srgbClr val="FFFFFF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Admite solo tipos válidos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4"/>
          <p:cNvSpPr/>
          <p:nvPr/>
        </p:nvSpPr>
        <p:spPr>
          <a:xfrm>
            <a:off x="6510600" y="4732200"/>
            <a:ext cx="1247760" cy="3884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GO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5"/>
          <p:cNvSpPr/>
          <p:nvPr/>
        </p:nvSpPr>
        <p:spPr>
          <a:xfrm>
            <a:off x="7758720" y="4732200"/>
            <a:ext cx="2912040" cy="388440"/>
          </a:xfrm>
          <a:prstGeom prst="rect">
            <a:avLst/>
          </a:prstGeom>
          <a:solidFill>
            <a:srgbClr val="F5F6F8"/>
          </a:solidFill>
          <a:ln w="381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Separador de lotes de SSMS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6"/>
          <p:cNvSpPr/>
          <p:nvPr/>
        </p:nvSpPr>
        <p:spPr>
          <a:xfrm>
            <a:off x="6510600" y="5440680"/>
            <a:ext cx="4160160" cy="566640"/>
          </a:xfrm>
          <a:prstGeom prst="rect">
            <a:avLst/>
          </a:prstGeom>
          <a:solidFill>
            <a:srgbClr val="F5F6F8"/>
          </a:solidFill>
          <a:ln w="19050">
            <a:solidFill>
              <a:srgbClr val="2B6CB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MODELO INDUSTRIAL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tabla registra fallas, alarmas, producción y mantenimiento: base de un histórico o tablero.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BLOQUE 3 · SCRIPT TRANSACT‑SQL (2 DE 2)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Carga de datos y consulta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DML: inserta eventos de planta y consulta el resultado real en SSMS.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Bloque 3 · Implementación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26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2"/>
          <p:cNvSpPr/>
          <p:nvPr/>
        </p:nvSpPr>
        <p:spPr>
          <a:xfrm>
            <a:off x="749880" y="1874520"/>
            <a:ext cx="5348880" cy="3565800"/>
          </a:xfrm>
          <a:prstGeom prst="rect">
            <a:avLst/>
          </a:prstGeom>
          <a:solidFill>
            <a:srgbClr val="F5F6F8"/>
          </a:solidFill>
          <a:ln w="762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rmAutofit/>
          </a:bodyPr>
          <a:lstStyle/>
          <a:p>
            <a:pPr lvl="1">
              <a:tabLst>
                <a:tab pos="0" algn="l"/>
              </a:tabLst>
            </a:pPr>
            <a:endParaRPr lang="en-US" sz="1600" b="0" u="none" strike="noStrike" dirty="0">
              <a:solidFill>
                <a:srgbClr val="2E3440"/>
              </a:solidFill>
              <a:effectLst/>
              <a:uFillTx/>
              <a:latin typeface="JetBrains Mono"/>
              <a:ea typeface="JetBrains Mono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INSERT INTO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dbo.Eventos_Planta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(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equipo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tipo_evento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descripcion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, valor,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unidad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VALUES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('Motor M-101','FALLA','Sobrecorriente',18.50,'A'),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('Bomba B-201','ALARMA','Presion alta',7.20,'bar'),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('Linea 1','PRODUCCION','Piezas del turno',1250,'un'),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('Horno H-301','ALARMA','Temperatura alta',412,'C');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GO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SELECT * FROM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dbo.Eventos_Planta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SELECT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tipo_evento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, COUNT(*) AS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cantidad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FROM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dbo.Eventos_Planta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 GROUP BY </a:t>
            </a:r>
            <a:r>
              <a:rPr lang="en-US" sz="1600" b="0" u="none" strike="noStrike" dirty="0" err="1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tipo_evento</a:t>
            </a:r>
            <a:r>
              <a:rPr lang="en-US" sz="1600" b="0" u="none" strike="noStrike" dirty="0">
                <a:solidFill>
                  <a:srgbClr val="2E3440"/>
                </a:solidFill>
                <a:effectLst/>
                <a:uFillTx/>
                <a:latin typeface="JetBrains Mono"/>
                <a:ea typeface="JetBrains Mono"/>
              </a:rPr>
              <a:t>;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4" name="Image 0" descr="/mnt/data/redesign_assets/55_ssms_resultado_script.png"/>
          <p:cNvPicPr/>
          <p:nvPr/>
        </p:nvPicPr>
        <p:blipFill>
          <a:blip r:embed="rId3"/>
          <a:srcRect t="106" b="106"/>
          <a:stretch/>
        </p:blipFill>
        <p:spPr>
          <a:xfrm>
            <a:off x="6419160" y="1874520"/>
            <a:ext cx="4983120" cy="269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5" name="Text 13"/>
          <p:cNvSpPr/>
          <p:nvPr/>
        </p:nvSpPr>
        <p:spPr>
          <a:xfrm>
            <a:off x="6419160" y="4681800"/>
            <a:ext cx="49831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0" i="1" u="none" strike="noStrike">
                <a:solidFill>
                  <a:srgbClr val="6B7280"/>
                </a:solidFill>
                <a:effectLst/>
                <a:uFillTx/>
                <a:latin typeface="Source Sans 3"/>
                <a:ea typeface="Source Sans 3"/>
              </a:rPr>
              <a:t>Resultado real en SSMS: 4 filas y conteo por tipo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4"/>
          <p:cNvSpPr/>
          <p:nvPr/>
        </p:nvSpPr>
        <p:spPr>
          <a:xfrm>
            <a:off x="6720840" y="52578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INSERT = agrega filas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5"/>
          <p:cNvSpPr/>
          <p:nvPr/>
        </p:nvSpPr>
        <p:spPr>
          <a:xfrm>
            <a:off x="8869680" y="52578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SELECT = consulta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6"/>
          <p:cNvSpPr/>
          <p:nvPr/>
        </p:nvSpPr>
        <p:spPr>
          <a:xfrm>
            <a:off x="6720840" y="57240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F5F6F8"/>
          </a:solidFill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GROUP BY = agrupa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7"/>
          <p:cNvSpPr/>
          <p:nvPr/>
        </p:nvSpPr>
        <p:spPr>
          <a:xfrm>
            <a:off x="8869680" y="5724000"/>
            <a:ext cx="2011320" cy="383760"/>
          </a:xfrm>
          <a:prstGeom prst="roundRect">
            <a:avLst>
              <a:gd name="adj" fmla="val 16667"/>
            </a:avLst>
          </a:prstGeom>
          <a:solidFill>
            <a:srgbClr val="123A5C"/>
          </a:solidFill>
          <a:ln w="12700">
            <a:solidFill>
              <a:srgbClr val="123A5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DML = datos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607082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"/>
          <p:cNvSpPr/>
          <p:nvPr/>
        </p:nvSpPr>
        <p:spPr>
          <a:xfrm>
            <a:off x="530280" y="621720"/>
            <a:ext cx="5028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CIERRE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3"/>
          <p:cNvSpPr/>
          <p:nvPr/>
        </p:nvSpPr>
        <p:spPr>
          <a:xfrm>
            <a:off x="530280" y="850320"/>
            <a:ext cx="80463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Conclusiones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4"/>
          <p:cNvSpPr/>
          <p:nvPr/>
        </p:nvSpPr>
        <p:spPr>
          <a:xfrm>
            <a:off x="530280" y="1307520"/>
            <a:ext cx="56700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5"/>
          <p:cNvSpPr/>
          <p:nvPr/>
        </p:nvSpPr>
        <p:spPr>
          <a:xfrm>
            <a:off x="530280" y="13899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Cinco ideas que conectan la infraestructura con los datos industriales.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6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7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Cierre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8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687384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9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27 / 28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0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1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2"/>
          <p:cNvSpPr/>
          <p:nvPr/>
        </p:nvSpPr>
        <p:spPr>
          <a:xfrm>
            <a:off x="868680" y="1920240"/>
            <a:ext cx="383760" cy="383760"/>
          </a:xfrm>
          <a:prstGeom prst="ellipse">
            <a:avLst/>
          </a:prstGeom>
          <a:solidFill>
            <a:srgbClr val="1B9AAA"/>
          </a:solidFill>
          <a:ln w="0">
            <a:solidFill>
              <a:srgbClr val="1B9A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3"/>
          <p:cNvSpPr/>
          <p:nvPr/>
        </p:nvSpPr>
        <p:spPr>
          <a:xfrm>
            <a:off x="1444680" y="187452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Virtualización de laboratorio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4"/>
          <p:cNvSpPr/>
          <p:nvPr/>
        </p:nvSpPr>
        <p:spPr>
          <a:xfrm>
            <a:off x="4709160" y="1874520"/>
            <a:ext cx="6217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Probar servidores sin hardware dedicado y volver atrás con snapshots.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5"/>
          <p:cNvSpPr/>
          <p:nvPr/>
        </p:nvSpPr>
        <p:spPr>
          <a:xfrm>
            <a:off x="1060560" y="2313360"/>
            <a:ext cx="360" cy="320040"/>
          </a:xfrm>
          <a:prstGeom prst="line">
            <a:avLst/>
          </a:prstGeom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6"/>
          <p:cNvSpPr/>
          <p:nvPr/>
        </p:nvSpPr>
        <p:spPr>
          <a:xfrm>
            <a:off x="868680" y="2679120"/>
            <a:ext cx="383760" cy="383760"/>
          </a:xfrm>
          <a:prstGeom prst="ellipse">
            <a:avLst/>
          </a:prstGeom>
          <a:solidFill>
            <a:srgbClr val="1B9AAA"/>
          </a:solidFill>
          <a:ln w="0">
            <a:solidFill>
              <a:srgbClr val="1B9A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7"/>
          <p:cNvSpPr/>
          <p:nvPr/>
        </p:nvSpPr>
        <p:spPr>
          <a:xfrm>
            <a:off x="1444680" y="263340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Roles distintos, continuidad común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8"/>
          <p:cNvSpPr/>
          <p:nvPr/>
        </p:nvSpPr>
        <p:spPr>
          <a:xfrm>
            <a:off x="4709160" y="2633400"/>
            <a:ext cx="6217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Windows Server y Ubuntu cubren funciones de planta con exigencia 24/7.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9"/>
          <p:cNvSpPr/>
          <p:nvPr/>
        </p:nvSpPr>
        <p:spPr>
          <a:xfrm>
            <a:off x="1060560" y="3072240"/>
            <a:ext cx="360" cy="320040"/>
          </a:xfrm>
          <a:prstGeom prst="line">
            <a:avLst/>
          </a:prstGeom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20"/>
          <p:cNvSpPr/>
          <p:nvPr/>
        </p:nvSpPr>
        <p:spPr>
          <a:xfrm>
            <a:off x="868680" y="3438000"/>
            <a:ext cx="383760" cy="383760"/>
          </a:xfrm>
          <a:prstGeom prst="ellipse">
            <a:avLst/>
          </a:prstGeom>
          <a:solidFill>
            <a:srgbClr val="1B9AAA"/>
          </a:solidFill>
          <a:ln w="0">
            <a:solidFill>
              <a:srgbClr val="1B9A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21"/>
          <p:cNvSpPr/>
          <p:nvPr/>
        </p:nvSpPr>
        <p:spPr>
          <a:xfrm>
            <a:off x="1444680" y="339228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Red Bridged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22"/>
          <p:cNvSpPr/>
          <p:nvPr/>
        </p:nvSpPr>
        <p:spPr>
          <a:xfrm>
            <a:off x="4709160" y="3392280"/>
            <a:ext cx="6217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La VM se comporta como equipo alcanzable de la red local.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23"/>
          <p:cNvSpPr/>
          <p:nvPr/>
        </p:nvSpPr>
        <p:spPr>
          <a:xfrm>
            <a:off x="1060560" y="3831120"/>
            <a:ext cx="360" cy="320040"/>
          </a:xfrm>
          <a:prstGeom prst="line">
            <a:avLst/>
          </a:prstGeom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4"/>
          <p:cNvSpPr/>
          <p:nvPr/>
        </p:nvSpPr>
        <p:spPr>
          <a:xfrm>
            <a:off x="868680" y="4197240"/>
            <a:ext cx="383760" cy="383760"/>
          </a:xfrm>
          <a:prstGeom prst="ellipse">
            <a:avLst/>
          </a:prstGeom>
          <a:solidFill>
            <a:srgbClr val="1B9AAA"/>
          </a:solidFill>
          <a:ln w="0">
            <a:solidFill>
              <a:srgbClr val="1B9A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5"/>
          <p:cNvSpPr/>
          <p:nvPr/>
        </p:nvSpPr>
        <p:spPr>
          <a:xfrm>
            <a:off x="1444680" y="415152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Seguridad de acceso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26"/>
          <p:cNvSpPr/>
          <p:nvPr/>
        </p:nvSpPr>
        <p:spPr>
          <a:xfrm>
            <a:off x="4709160" y="4151520"/>
            <a:ext cx="6217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RDS aporta escala; el Security Group aplica mínimo privilegio.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27"/>
          <p:cNvSpPr/>
          <p:nvPr/>
        </p:nvSpPr>
        <p:spPr>
          <a:xfrm>
            <a:off x="1060560" y="4590000"/>
            <a:ext cx="360" cy="320040"/>
          </a:xfrm>
          <a:prstGeom prst="line">
            <a:avLst/>
          </a:prstGeom>
          <a:ln w="12700">
            <a:solidFill>
              <a:srgbClr val="D7DB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28"/>
          <p:cNvSpPr/>
          <p:nvPr/>
        </p:nvSpPr>
        <p:spPr>
          <a:xfrm>
            <a:off x="868680" y="4956120"/>
            <a:ext cx="383760" cy="383760"/>
          </a:xfrm>
          <a:prstGeom prst="ellipse">
            <a:avLst/>
          </a:prstGeom>
          <a:solidFill>
            <a:srgbClr val="1B9AAA"/>
          </a:solidFill>
          <a:ln w="0">
            <a:solidFill>
              <a:srgbClr val="1B9AA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29"/>
          <p:cNvSpPr/>
          <p:nvPr/>
        </p:nvSpPr>
        <p:spPr>
          <a:xfrm>
            <a:off x="1444680" y="4910400"/>
            <a:ext cx="31543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20" b="1" u="none" strike="noStrike">
                <a:solidFill>
                  <a:srgbClr val="123A5C"/>
                </a:solidFill>
                <a:effectLst/>
                <a:uFillTx/>
                <a:latin typeface="Source Sans 3"/>
                <a:ea typeface="Source Sans 3"/>
              </a:rPr>
              <a:t>De infraestructura a datos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30"/>
          <p:cNvSpPr/>
          <p:nvPr/>
        </p:nvSpPr>
        <p:spPr>
          <a:xfrm>
            <a:off x="4709160" y="4910400"/>
            <a:ext cx="6217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T‑SQL deja una base de eventos lista para histórico o tablero.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31"/>
          <p:cNvSpPr/>
          <p:nvPr/>
        </p:nvSpPr>
        <p:spPr>
          <a:xfrm>
            <a:off x="1417320" y="5806440"/>
            <a:ext cx="9417960" cy="438480"/>
          </a:xfrm>
          <a:prstGeom prst="rect">
            <a:avLst/>
          </a:prstGeom>
          <a:solidFill>
            <a:srgbClr val="F5F6F8"/>
          </a:solidFill>
          <a:ln w="19050">
            <a:solidFill>
              <a:srgbClr val="2F85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SÍNTESIS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E3440"/>
                </a:solidFill>
                <a:effectLst/>
                <a:uFillTx/>
                <a:latin typeface="Source Sans 3"/>
                <a:ea typeface="Source Sans 3"/>
              </a:rPr>
              <a:t>El parcial integra servidores, red, nube, seguridad y SQL como una misma cadena técnica.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 0"/>
          <p:cNvSpPr/>
          <p:nvPr/>
        </p:nvSpPr>
        <p:spPr>
          <a:xfrm>
            <a:off x="530280" y="228600"/>
            <a:ext cx="29257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DE LOCAL A LA NUBE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"/>
          <p:cNvSpPr/>
          <p:nvPr/>
        </p:nvSpPr>
        <p:spPr>
          <a:xfrm>
            <a:off x="7406640" y="228600"/>
            <a:ext cx="42516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INFRAESTRUCTURA INFORMÁTICA INDUSTRIAL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"/>
          <p:cNvSpPr/>
          <p:nvPr/>
        </p:nvSpPr>
        <p:spPr>
          <a:xfrm>
            <a:off x="731520" y="123444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Libre Baskerville"/>
                <a:ea typeface="Libre Baskerville"/>
              </a:rPr>
              <a:t>Preguntas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3"/>
          <p:cNvSpPr/>
          <p:nvPr/>
        </p:nvSpPr>
        <p:spPr>
          <a:xfrm>
            <a:off x="731520" y="1938240"/>
            <a:ext cx="640080" cy="360"/>
          </a:xfrm>
          <a:prstGeom prst="line">
            <a:avLst/>
          </a:prstGeom>
          <a:ln w="381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4"/>
          <p:cNvSpPr/>
          <p:nvPr/>
        </p:nvSpPr>
        <p:spPr>
          <a:xfrm>
            <a:off x="731520" y="233172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CE7EE"/>
                </a:solidFill>
                <a:effectLst/>
                <a:uFillTx/>
                <a:latin typeface="Source Sans 3"/>
                <a:ea typeface="Source Sans 3"/>
              </a:rPr>
              <a:t>Gracias por su atención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5"/>
          <p:cNvSpPr/>
          <p:nvPr/>
        </p:nvSpPr>
        <p:spPr>
          <a:xfrm>
            <a:off x="6583680" y="1737360"/>
            <a:ext cx="3428640" cy="1051200"/>
          </a:xfrm>
          <a:prstGeom prst="roundRect">
            <a:avLst>
              <a:gd name="adj" fmla="val 16667"/>
            </a:avLst>
          </a:prstGeom>
          <a:solidFill>
            <a:srgbClr val="0F2E49"/>
          </a:solidFill>
          <a:ln w="12700">
            <a:solidFill>
              <a:srgbClr val="2B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" tIns="1080" rIns="1080" bIns="108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Consola AWS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SSMS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VMs disponibles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6"/>
          <p:cNvSpPr/>
          <p:nvPr/>
        </p:nvSpPr>
        <p:spPr>
          <a:xfrm>
            <a:off x="731520" y="4343400"/>
            <a:ext cx="512028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Emiliano Casali · 210237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Juan Gustavo Del Soto · 421822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Facundo José Ferrero · 420841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Cristian Gonzalo Vera · 420581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7"/>
          <p:cNvSpPr/>
          <p:nvPr/>
        </p:nvSpPr>
        <p:spPr>
          <a:xfrm>
            <a:off x="731520" y="54864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9AAA"/>
                </a:solidFill>
                <a:effectLst/>
                <a:uFillTx/>
                <a:latin typeface="Source Sans 3"/>
                <a:ea typeface="Source Sans 3"/>
              </a:rPr>
              <a:t>Informática Industrial · UTN FRC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8"/>
          <p:cNvSpPr/>
          <p:nvPr/>
        </p:nvSpPr>
        <p:spPr>
          <a:xfrm>
            <a:off x="5943600" y="4617720"/>
            <a:ext cx="5166000" cy="658080"/>
          </a:xfrm>
          <a:prstGeom prst="rect">
            <a:avLst/>
          </a:prstGeom>
          <a:solidFill>
            <a:srgbClr val="0F2E49"/>
          </a:solidFill>
          <a:ln w="1905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LISTO PARA DEMO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Regla Mi IP actualizada, RDS disponible, SSMS conectado y VMs encendidas.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9"/>
          <p:cNvSpPr/>
          <p:nvPr/>
        </p:nvSpPr>
        <p:spPr>
          <a:xfrm>
            <a:off x="530280" y="6510600"/>
            <a:ext cx="2422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Informática Industrial · Parcial 1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0"/>
          <p:cNvSpPr/>
          <p:nvPr/>
        </p:nvSpPr>
        <p:spPr>
          <a:xfrm>
            <a:off x="3200400" y="6510600"/>
            <a:ext cx="3977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Preguntas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1"/>
          <p:cNvSpPr/>
          <p:nvPr/>
        </p:nvSpPr>
        <p:spPr>
          <a:xfrm>
            <a:off x="7516440" y="6510600"/>
            <a:ext cx="26971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DDE7EE"/>
                </a:solidFill>
                <a:effectLst/>
                <a:uFillTx/>
                <a:latin typeface="Source Sans 3"/>
                <a:ea typeface="Source Sans 3"/>
              </a:rPr>
              <a:t>Expone: Vera</a:t>
            </a:r>
            <a:endParaRPr lang="en-US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2"/>
          <p:cNvSpPr/>
          <p:nvPr/>
        </p:nvSpPr>
        <p:spPr>
          <a:xfrm>
            <a:off x="10488240" y="64922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FFFFFF"/>
                </a:solidFill>
                <a:effectLst/>
                <a:uFillTx/>
                <a:latin typeface="Source Sans 3"/>
                <a:ea typeface="Source Sans 3"/>
              </a:rPr>
              <a:t>28 / 28</a:t>
            </a:r>
            <a:endParaRPr lang="en-US" sz="83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13"/>
          <p:cNvSpPr/>
          <p:nvPr/>
        </p:nvSpPr>
        <p:spPr>
          <a:xfrm>
            <a:off x="530280" y="6382440"/>
            <a:ext cx="11109960" cy="360"/>
          </a:xfrm>
          <a:prstGeom prst="line">
            <a:avLst/>
          </a:prstGeom>
          <a:ln w="6350">
            <a:solidFill>
              <a:srgbClr val="2B557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14"/>
          <p:cNvSpPr/>
          <p:nvPr/>
        </p:nvSpPr>
        <p:spPr>
          <a:xfrm>
            <a:off x="11466360" y="6382440"/>
            <a:ext cx="164520" cy="360"/>
          </a:xfrm>
          <a:prstGeom prst="line">
            <a:avLst/>
          </a:prstGeom>
          <a:ln w="25400">
            <a:solidFill>
              <a:srgbClr val="1B9AA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3"/>
        <a:ea typeface=""/>
        <a:cs typeface=""/>
      </a:majorFont>
      <a:minorFont>
        <a:latin typeface="Source Sans 3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4760</Words>
  <Application>Microsoft Office PowerPoint</Application>
  <PresentationFormat>Panorámica</PresentationFormat>
  <Paragraphs>694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Arial</vt:lpstr>
      <vt:lpstr>JetBrains Mono</vt:lpstr>
      <vt:lpstr>Libre Baskerville</vt:lpstr>
      <vt:lpstr>Source Sans 3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UTN FRC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Cristian Gonzalo Vera</cp:lastModifiedBy>
  <cp:revision>1</cp:revision>
  <dcterms:modified xsi:type="dcterms:W3CDTF">2026-09-22T01:15:56Z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2026-09-22T00:54:35Z</dcterms:created>
  <dc:creator>OpenAI</dc:creator>
  <dc:description/>
  <dc:language>en-US</dc:language>
  <cp:lastModifiedBy>OpenAI</cp:lastModifiedBy>
  <dcterms:modified xsi:type="dcterms:W3CDTF">2026-09-22T00:54:35Z</dcterms:modified>
  <cp:revision>1</cp:revision>
  <dc:subject>Parcial 1 Informática Industrial - Defensa rediseñada</dc:subject>
  <dc:title>Parcial 1 Informática Industrial – Defensa rediseñada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28</vt:r8>
  </property>
  <property fmtid="{D5CDD505-2E9C-101B-9397-08002B2CF9AE}" pid="3" name="PresentationFormat">
    <vt:lpwstr>On-screen Show (16:9)</vt:lpwstr>
  </property>
  <property fmtid="{D5CDD505-2E9C-101B-9397-08002B2CF9AE}" pid="4" name="Slides">
    <vt:r8>28</vt:r8>
  </property>
</Properties>
</file>